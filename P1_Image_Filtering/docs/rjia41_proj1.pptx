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2" r:id="rId16"/>
    <p:sldId id="273" r:id="rId17"/>
    <p:sldId id="274" r:id="rId18"/>
    <p:sldId id="276" r:id="rId19"/>
    <p:sldId id="277" r:id="rId20"/>
    <p:sldId id="275" r:id="rId21"/>
    <p:sldId id="271" r:id="rId2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724"/>
  </p:normalViewPr>
  <p:slideViewPr>
    <p:cSldViewPr snapToGrid="0" snapToObjects="1">
      <p:cViewPr varScale="1">
        <p:scale>
          <a:sx n="128" d="100"/>
          <a:sy n="128" d="100"/>
        </p:scale>
        <p:origin x="162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2" name="Shape 202"/>
          <p:cNvSpPr>
            <a:spLocks noGrp="1" noRot="1" noChangeAspect="1"/>
          </p:cNvSpPr>
          <p:nvPr>
            <p:ph type="sldImg"/>
          </p:nvPr>
        </p:nvSpPr>
        <p:spPr>
          <a:xfrm>
            <a:off x="1143000" y="685800"/>
            <a:ext cx="4572000" cy="3429000"/>
          </a:xfrm>
          <a:prstGeom prst="rect">
            <a:avLst/>
          </a:prstGeom>
        </p:spPr>
        <p:txBody>
          <a:bodyPr/>
          <a:lstStyle/>
          <a:p>
            <a:endParaRPr/>
          </a:p>
        </p:txBody>
      </p:sp>
      <p:sp>
        <p:nvSpPr>
          <p:cNvPr id="203" name="Shape 20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N" dirty="0"/>
          </a:p>
        </p:txBody>
      </p:sp>
    </p:spTree>
    <p:extLst>
      <p:ext uri="{BB962C8B-B14F-4D97-AF65-F5344CB8AC3E}">
        <p14:creationId xmlns:p14="http://schemas.microsoft.com/office/powerpoint/2010/main" val="1446567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N" dirty="0"/>
          </a:p>
        </p:txBody>
      </p:sp>
    </p:spTree>
    <p:extLst>
      <p:ext uri="{BB962C8B-B14F-4D97-AF65-F5344CB8AC3E}">
        <p14:creationId xmlns:p14="http://schemas.microsoft.com/office/powerpoint/2010/main" val="466605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07"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08"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116" name="Title Text"/>
          <p:cNvSpPr txBox="1">
            <a:spLocks noGrp="1"/>
          </p:cNvSpPr>
          <p:nvPr>
            <p:ph type="title"/>
          </p:nvPr>
        </p:nvSpPr>
        <p:spPr>
          <a:prstGeom prst="rect">
            <a:avLst/>
          </a:prstGeom>
        </p:spPr>
        <p:txBody>
          <a:bodyPr/>
          <a:lstStyle/>
          <a:p>
            <a:r>
              <a:t>Title Text</a:t>
            </a:r>
          </a:p>
        </p:txBody>
      </p:sp>
      <p:sp>
        <p:nvSpPr>
          <p:cNvPr id="117"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118" name="Google Shape;61;p1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126" name="Title Text"/>
          <p:cNvSpPr txBox="1">
            <a:spLocks noGrp="1"/>
          </p:cNvSpPr>
          <p:nvPr>
            <p:ph type="title"/>
          </p:nvPr>
        </p:nvSpPr>
        <p:spPr>
          <a:prstGeom prst="rect">
            <a:avLst/>
          </a:prstGeom>
        </p:spPr>
        <p:txBody>
          <a:bodyPr/>
          <a:lstStyle/>
          <a:p>
            <a:r>
              <a:t>Title Text</a:t>
            </a:r>
          </a:p>
        </p:txBody>
      </p:sp>
      <p:sp>
        <p:nvSpPr>
          <p:cNvPr id="12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135"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143" name="Title Text"/>
          <p:cNvSpPr txBox="1">
            <a:spLocks noGrp="1"/>
          </p:cNvSpPr>
          <p:nvPr>
            <p:ph type="title"/>
          </p:nvPr>
        </p:nvSpPr>
        <p:spPr>
          <a:prstGeom prst="rect">
            <a:avLst/>
          </a:prstGeom>
        </p:spPr>
        <p:txBody>
          <a:bodyPr/>
          <a:lstStyle/>
          <a:p>
            <a:r>
              <a:t>Title Text</a:t>
            </a: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151"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152"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1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160"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1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168" name="Google Shape;81;p21"/>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169"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170"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171" name="Google Shape;84;p21"/>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1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179"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1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187"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188"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18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j-lt"/>
          <a:ea typeface="+mj-ea"/>
          <a:cs typeface="+mj-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Google Shape;99;p25"/>
          <p:cNvSpPr txBox="1">
            <a:spLocks noGrp="1"/>
          </p:cNvSpPr>
          <p:nvPr>
            <p:ph type="title"/>
          </p:nvPr>
        </p:nvSpPr>
        <p:spPr>
          <a:xfrm>
            <a:off x="311707" y="230475"/>
            <a:ext cx="8520602" cy="2052599"/>
          </a:xfrm>
          <a:prstGeom prst="rect">
            <a:avLst/>
          </a:prstGeom>
        </p:spPr>
        <p:txBody>
          <a:bodyPr/>
          <a:lstStyle/>
          <a:p>
            <a:r>
              <a:t>CS 6476 Project 1</a:t>
            </a:r>
          </a:p>
        </p:txBody>
      </p:sp>
      <p:sp>
        <p:nvSpPr>
          <p:cNvPr id="206" name="Google Shape;100;p25"/>
          <p:cNvSpPr txBox="1">
            <a:spLocks noGrp="1"/>
          </p:cNvSpPr>
          <p:nvPr>
            <p:ph type="body" sz="half" idx="1"/>
          </p:nvPr>
        </p:nvSpPr>
        <p:spPr>
          <a:xfrm>
            <a:off x="311699" y="2320025"/>
            <a:ext cx="8520602" cy="1797301"/>
          </a:xfrm>
          <a:prstGeom prst="rect">
            <a:avLst/>
          </a:prstGeom>
        </p:spPr>
        <p:txBody>
          <a:bodyPr>
            <a:normAutofit lnSpcReduction="10000"/>
          </a:bodyPr>
          <a:lstStyle/>
          <a:p>
            <a:pPr marL="0" indent="0"/>
            <a:r>
              <a:rPr dirty="0"/>
              <a:t>[</a:t>
            </a:r>
            <a:r>
              <a:rPr lang="en-US" altLang="zh-CN" dirty="0" err="1"/>
              <a:t>Ruoran</a:t>
            </a:r>
            <a:r>
              <a:rPr lang="zh-CN" altLang="en-US" dirty="0"/>
              <a:t> </a:t>
            </a:r>
            <a:r>
              <a:rPr lang="en-US" altLang="zh-CN" dirty="0"/>
              <a:t>Jia</a:t>
            </a:r>
            <a:r>
              <a:rPr dirty="0"/>
              <a:t>]</a:t>
            </a:r>
          </a:p>
          <a:p>
            <a:pPr marL="0" indent="0"/>
            <a:r>
              <a:rPr dirty="0"/>
              <a:t>[</a:t>
            </a:r>
            <a:r>
              <a:rPr lang="en-US" altLang="zh-CN" dirty="0"/>
              <a:t>rjia41@gatech.edu</a:t>
            </a:r>
            <a:r>
              <a:rPr dirty="0"/>
              <a:t>]</a:t>
            </a:r>
          </a:p>
          <a:p>
            <a:pPr marL="0" indent="0"/>
            <a:r>
              <a:rPr lang="en-US" altLang="zh-CN" dirty="0"/>
              <a:t>[rjia41</a:t>
            </a:r>
            <a:r>
              <a:rPr dirty="0"/>
              <a:t>]</a:t>
            </a:r>
          </a:p>
          <a:p>
            <a:pPr marL="0" indent="0"/>
            <a:r>
              <a:rPr dirty="0"/>
              <a:t>[</a:t>
            </a:r>
            <a:r>
              <a:rPr lang="en-US" altLang="zh-CN" dirty="0"/>
              <a:t>903631225</a:t>
            </a:r>
            <a:r>
              <a:rPr dirty="0"/>
              <a: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105;p26"/>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1: Image filtering</a:t>
            </a:r>
          </a:p>
        </p:txBody>
      </p:sp>
      <p:sp>
        <p:nvSpPr>
          <p:cNvPr id="209" name="Google Shape;106;p26"/>
          <p:cNvSpPr txBox="1">
            <a:spLocks noGrp="1"/>
          </p:cNvSpPr>
          <p:nvPr>
            <p:ph type="body" sz="half" idx="1"/>
          </p:nvPr>
        </p:nvSpPr>
        <p:spPr>
          <a:xfrm>
            <a:off x="311699" y="1152475"/>
            <a:ext cx="3999902" cy="3416400"/>
          </a:xfrm>
          <a:prstGeom prst="rect">
            <a:avLst/>
          </a:prstGeom>
        </p:spPr>
        <p:txBody>
          <a:bodyPr/>
          <a:lstStyle>
            <a:lvl1pPr marL="0" indent="0">
              <a:spcBef>
                <a:spcPts val="1600"/>
              </a:spcBef>
              <a:buSzTx/>
              <a:buNone/>
            </a:lvl1pPr>
          </a:lstStyle>
          <a:p>
            <a:r>
              <a:rPr dirty="0"/>
              <a:t>[insert visualization of Gaussian kernel from project-1.ipynb here]</a:t>
            </a:r>
            <a:endParaRPr lang="en-US" dirty="0"/>
          </a:p>
          <a:p>
            <a:endParaRPr lang="en-US" dirty="0"/>
          </a:p>
        </p:txBody>
      </p:sp>
      <p:sp>
        <p:nvSpPr>
          <p:cNvPr id="210" name="Google Shape;107;p26"/>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0" indent="0">
              <a:spcBef>
                <a:spcPts val="1600"/>
              </a:spcBef>
              <a:buSzTx/>
              <a:buNone/>
              <a:defRPr sz="1400"/>
            </a:lvl1pPr>
          </a:lstStyle>
          <a:p>
            <a:r>
              <a:rPr dirty="0"/>
              <a:t>[Describe your implementation of my_conv2d_numpy() in words. Make sure to discuss padding, and the operations used between the filter and image.]</a:t>
            </a:r>
          </a:p>
        </p:txBody>
      </p:sp>
      <p:pic>
        <p:nvPicPr>
          <p:cNvPr id="3" name="Picture 2">
            <a:extLst>
              <a:ext uri="{FF2B5EF4-FFF2-40B4-BE49-F238E27FC236}">
                <a16:creationId xmlns:a16="http://schemas.microsoft.com/office/drawing/2014/main" id="{30CBB460-B6AD-4C41-9FD9-1C30102FF012}"/>
              </a:ext>
            </a:extLst>
          </p:cNvPr>
          <p:cNvPicPr>
            <a:picLocks noChangeAspect="1"/>
          </p:cNvPicPr>
          <p:nvPr/>
        </p:nvPicPr>
        <p:blipFill>
          <a:blip r:embed="rId3"/>
          <a:stretch>
            <a:fillRect/>
          </a:stretch>
        </p:blipFill>
        <p:spPr>
          <a:xfrm>
            <a:off x="1277795" y="2647813"/>
            <a:ext cx="2196137" cy="2063484"/>
          </a:xfrm>
          <a:prstGeom prst="rect">
            <a:avLst/>
          </a:prstGeom>
        </p:spPr>
      </p:pic>
      <p:pic>
        <p:nvPicPr>
          <p:cNvPr id="4" name="Picture 3">
            <a:extLst>
              <a:ext uri="{FF2B5EF4-FFF2-40B4-BE49-F238E27FC236}">
                <a16:creationId xmlns:a16="http://schemas.microsoft.com/office/drawing/2014/main" id="{C17F458B-C636-D44E-A202-4CF5D9BB04BF}"/>
              </a:ext>
            </a:extLst>
          </p:cNvPr>
          <p:cNvPicPr>
            <a:picLocks noChangeAspect="1"/>
          </p:cNvPicPr>
          <p:nvPr/>
        </p:nvPicPr>
        <p:blipFill>
          <a:blip r:embed="rId4"/>
          <a:stretch>
            <a:fillRect/>
          </a:stretch>
        </p:blipFill>
        <p:spPr>
          <a:xfrm>
            <a:off x="311699" y="1865315"/>
            <a:ext cx="4053651" cy="572701"/>
          </a:xfrm>
          <a:prstGeom prst="rect">
            <a:avLst/>
          </a:prstGeom>
        </p:spPr>
      </p:pic>
      <p:sp>
        <p:nvSpPr>
          <p:cNvPr id="5" name="TextBox 4">
            <a:extLst>
              <a:ext uri="{FF2B5EF4-FFF2-40B4-BE49-F238E27FC236}">
                <a16:creationId xmlns:a16="http://schemas.microsoft.com/office/drawing/2014/main" id="{C412653C-04AA-F243-BEDC-CA8499504EF7}"/>
              </a:ext>
            </a:extLst>
          </p:cNvPr>
          <p:cNvSpPr txBox="1"/>
          <p:nvPr/>
        </p:nvSpPr>
        <p:spPr>
          <a:xfrm>
            <a:off x="1626557" y="2356306"/>
            <a:ext cx="2912882"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altLang="zh-CN" sz="1400" b="0" i="0" u="none" strike="noStrike" cap="none" spc="0" normalizeH="0" baseline="0" dirty="0">
                <a:ln>
                  <a:noFill/>
                </a:ln>
                <a:solidFill>
                  <a:srgbClr val="000000"/>
                </a:solidFill>
                <a:effectLst/>
                <a:uFillTx/>
                <a:latin typeface="+mj-lt"/>
                <a:ea typeface="+mj-ea"/>
                <a:cs typeface="+mj-cs"/>
                <a:sym typeface="Arial"/>
              </a:rPr>
              <a:t>1D</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Gaussian</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Kernel</a:t>
            </a:r>
            <a:endParaRPr kumimoji="0" lang="en-CN" sz="1400" b="0" i="0" u="none" strike="noStrike" cap="none" spc="0" normalizeH="0" baseline="0" dirty="0">
              <a:ln>
                <a:noFill/>
              </a:ln>
              <a:solidFill>
                <a:srgbClr val="000000"/>
              </a:solidFill>
              <a:effectLst/>
              <a:uFillTx/>
              <a:latin typeface="+mj-lt"/>
              <a:ea typeface="+mj-ea"/>
              <a:cs typeface="+mj-cs"/>
              <a:sym typeface="Arial"/>
            </a:endParaRPr>
          </a:p>
        </p:txBody>
      </p:sp>
      <p:sp>
        <p:nvSpPr>
          <p:cNvPr id="9" name="TextBox 8">
            <a:extLst>
              <a:ext uri="{FF2B5EF4-FFF2-40B4-BE49-F238E27FC236}">
                <a16:creationId xmlns:a16="http://schemas.microsoft.com/office/drawing/2014/main" id="{F3B72142-B2F2-264F-B157-8F74169439C4}"/>
              </a:ext>
            </a:extLst>
          </p:cNvPr>
          <p:cNvSpPr txBox="1"/>
          <p:nvPr/>
        </p:nvSpPr>
        <p:spPr>
          <a:xfrm>
            <a:off x="1659118" y="4729992"/>
            <a:ext cx="2912882"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altLang="zh-CN" dirty="0"/>
              <a:t>2</a:t>
            </a:r>
            <a:r>
              <a:rPr kumimoji="0" lang="en-US" altLang="zh-CN" sz="1400" b="0" i="0" u="none" strike="noStrike" cap="none" spc="0" normalizeH="0" baseline="0" dirty="0">
                <a:ln>
                  <a:noFill/>
                </a:ln>
                <a:solidFill>
                  <a:srgbClr val="000000"/>
                </a:solidFill>
                <a:effectLst/>
                <a:uFillTx/>
                <a:latin typeface="+mj-lt"/>
                <a:ea typeface="+mj-ea"/>
                <a:cs typeface="+mj-cs"/>
                <a:sym typeface="Arial"/>
              </a:rPr>
              <a:t>D</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Gaussian</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Kernel</a:t>
            </a:r>
            <a:endParaRPr kumimoji="0" lang="en-CN" sz="1400" b="0" i="0" u="none" strike="noStrike" cap="none" spc="0" normalizeH="0" baseline="0" dirty="0">
              <a:ln>
                <a:noFill/>
              </a:ln>
              <a:solidFill>
                <a:srgbClr val="000000"/>
              </a:solidFill>
              <a:effectLst/>
              <a:uFillTx/>
              <a:latin typeface="+mj-lt"/>
              <a:ea typeface="+mj-ea"/>
              <a:cs typeface="+mj-cs"/>
              <a:sym typeface="Arial"/>
            </a:endParaRPr>
          </a:p>
        </p:txBody>
      </p:sp>
      <p:cxnSp>
        <p:nvCxnSpPr>
          <p:cNvPr id="7" name="Straight Connector 6">
            <a:extLst>
              <a:ext uri="{FF2B5EF4-FFF2-40B4-BE49-F238E27FC236}">
                <a16:creationId xmlns:a16="http://schemas.microsoft.com/office/drawing/2014/main" id="{734244DA-E2F3-C942-BC8C-80E8FB79153F}"/>
              </a:ext>
            </a:extLst>
          </p:cNvPr>
          <p:cNvCxnSpPr/>
          <p:nvPr/>
        </p:nvCxnSpPr>
        <p:spPr>
          <a:xfrm>
            <a:off x="311699" y="2647813"/>
            <a:ext cx="4260301"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85141B5F-6E07-464B-8263-5CC406FFB311}"/>
              </a:ext>
            </a:extLst>
          </p:cNvPr>
          <p:cNvSpPr txBox="1"/>
          <p:nvPr/>
        </p:nvSpPr>
        <p:spPr>
          <a:xfrm>
            <a:off x="4832399" y="2262433"/>
            <a:ext cx="4141919" cy="21544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kumimoji="0" lang="en-US" altLang="zh-CN" sz="1400" b="0" i="0" u="none" strike="noStrike" cap="none" spc="0" normalizeH="0" baseline="0" dirty="0">
                <a:ln>
                  <a:noFill/>
                </a:ln>
                <a:solidFill>
                  <a:srgbClr val="000000"/>
                </a:solidFill>
                <a:effectLst/>
                <a:uFillTx/>
                <a:latin typeface="+mj-lt"/>
                <a:ea typeface="+mj-ea"/>
                <a:cs typeface="+mj-cs"/>
                <a:sym typeface="Arial"/>
              </a:rPr>
              <a:t>In</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my</a:t>
            </a:r>
            <a:r>
              <a:rPr lang="en-US" altLang="zh-CN" dirty="0"/>
              <a:t>_conv2d_numpy()</a:t>
            </a:r>
            <a:r>
              <a:rPr lang="zh-CN" altLang="en-US" dirty="0"/>
              <a:t> </a:t>
            </a:r>
            <a:r>
              <a:rPr lang="en-US" altLang="zh-CN" dirty="0"/>
              <a:t>function,</a:t>
            </a:r>
            <a:r>
              <a:rPr lang="zh-CN" altLang="en-US" dirty="0"/>
              <a:t> </a:t>
            </a:r>
            <a:r>
              <a:rPr lang="en-US" altLang="zh-CN" dirty="0"/>
              <a:t>I</a:t>
            </a:r>
            <a:r>
              <a:rPr lang="zh-CN" altLang="en-US" dirty="0"/>
              <a:t> </a:t>
            </a:r>
            <a:r>
              <a:rPr lang="en-US" altLang="zh-CN" dirty="0"/>
              <a:t>first</a:t>
            </a:r>
            <a:r>
              <a:rPr lang="zh-CN" altLang="en-US" dirty="0"/>
              <a:t> </a:t>
            </a:r>
            <a:r>
              <a:rPr lang="en-US" altLang="zh-CN" dirty="0"/>
              <a:t>get</a:t>
            </a:r>
            <a:r>
              <a:rPr lang="zh-CN" altLang="en-US" dirty="0"/>
              <a:t> </a:t>
            </a:r>
            <a:r>
              <a:rPr lang="en-US" altLang="zh-CN" dirty="0"/>
              <a:t>the</a:t>
            </a:r>
            <a:r>
              <a:rPr lang="zh-CN" altLang="en-US" dirty="0"/>
              <a:t> </a:t>
            </a:r>
            <a:r>
              <a:rPr lang="en-US" altLang="zh-CN" dirty="0"/>
              <a:t>specific</a:t>
            </a:r>
            <a:r>
              <a:rPr lang="zh-CN" altLang="en-US" dirty="0"/>
              <a:t> </a:t>
            </a:r>
            <a:r>
              <a:rPr lang="en-US" altLang="zh-CN" dirty="0"/>
              <a:t>shape</a:t>
            </a:r>
            <a:r>
              <a:rPr lang="zh-CN" altLang="en-US" dirty="0"/>
              <a:t> </a:t>
            </a:r>
            <a:r>
              <a:rPr lang="en-US" altLang="zh-CN" dirty="0"/>
              <a:t>of</a:t>
            </a:r>
            <a:r>
              <a:rPr lang="zh-CN" altLang="en-US" dirty="0"/>
              <a:t> </a:t>
            </a:r>
            <a:r>
              <a:rPr lang="en-US" altLang="zh-CN" dirty="0"/>
              <a:t>image</a:t>
            </a:r>
            <a:r>
              <a:rPr lang="zh-CN" altLang="en-US" dirty="0"/>
              <a:t> </a:t>
            </a:r>
            <a:r>
              <a:rPr lang="en-US" altLang="zh-CN" dirty="0"/>
              <a:t>and</a:t>
            </a:r>
            <a:r>
              <a:rPr lang="zh-CN" altLang="en-US" dirty="0"/>
              <a:t> </a:t>
            </a:r>
            <a:r>
              <a:rPr lang="en-US" altLang="zh-CN" dirty="0"/>
              <a:t>filter,</a:t>
            </a:r>
            <a:r>
              <a:rPr lang="zh-CN" altLang="en-US" dirty="0"/>
              <a:t> </a:t>
            </a:r>
            <a:r>
              <a:rPr lang="en-US" altLang="zh-CN" dirty="0"/>
              <a:t>and</a:t>
            </a:r>
            <a:r>
              <a:rPr lang="zh-CN" altLang="en-US" dirty="0"/>
              <a:t> </a:t>
            </a:r>
            <a:r>
              <a:rPr lang="en-US" altLang="zh-CN" dirty="0"/>
              <a:t>use</a:t>
            </a:r>
            <a:r>
              <a:rPr lang="zh-CN" altLang="en-US" dirty="0"/>
              <a:t> </a:t>
            </a:r>
            <a:r>
              <a:rPr lang="en-US" altLang="zh-CN" dirty="0"/>
              <a:t>letters</a:t>
            </a:r>
            <a:r>
              <a:rPr lang="zh-CN" altLang="en-US" dirty="0"/>
              <a:t> </a:t>
            </a:r>
            <a:r>
              <a:rPr lang="en-US" altLang="zh-CN" dirty="0"/>
              <a:t>(</a:t>
            </a:r>
            <a:r>
              <a:rPr lang="en-US" altLang="zh-CN" dirty="0" err="1"/>
              <a:t>m,n,c</a:t>
            </a:r>
            <a:r>
              <a:rPr lang="zh-CN" altLang="en-US" dirty="0"/>
              <a:t> </a:t>
            </a:r>
            <a:r>
              <a:rPr lang="en-US" altLang="zh-CN" dirty="0"/>
              <a:t>and</a:t>
            </a:r>
            <a:r>
              <a:rPr lang="zh-CN" altLang="en-US" dirty="0"/>
              <a:t> </a:t>
            </a:r>
            <a:r>
              <a:rPr lang="en-US" altLang="zh-CN" dirty="0" err="1"/>
              <a:t>k,l</a:t>
            </a:r>
            <a:r>
              <a:rPr lang="en-US" altLang="zh-CN" dirty="0"/>
              <a:t>)</a:t>
            </a:r>
            <a:r>
              <a:rPr lang="zh-CN" altLang="en-US" dirty="0"/>
              <a:t> </a:t>
            </a:r>
            <a:r>
              <a:rPr lang="en-US" altLang="zh-CN" dirty="0"/>
              <a:t>to</a:t>
            </a:r>
            <a:r>
              <a:rPr lang="zh-CN" altLang="en-US" dirty="0"/>
              <a:t> </a:t>
            </a:r>
            <a:r>
              <a:rPr lang="en-US" altLang="zh-CN" dirty="0"/>
              <a:t>represent</a:t>
            </a:r>
            <a:r>
              <a:rPr lang="zh-CN" altLang="en-US" dirty="0"/>
              <a:t> </a:t>
            </a:r>
            <a:r>
              <a:rPr lang="en-US" altLang="zh-CN" dirty="0"/>
              <a:t>them.</a:t>
            </a:r>
            <a:r>
              <a:rPr lang="zh-CN" altLang="en-US" dirty="0"/>
              <a:t> </a:t>
            </a:r>
            <a:r>
              <a:rPr lang="en-US" altLang="zh-CN" dirty="0"/>
              <a:t>Then,</a:t>
            </a:r>
            <a:r>
              <a:rPr lang="zh-CN" altLang="en-US" dirty="0"/>
              <a:t> </a:t>
            </a:r>
            <a:r>
              <a:rPr lang="en-US" altLang="zh-CN" dirty="0"/>
              <a:t>I</a:t>
            </a:r>
            <a:r>
              <a:rPr lang="zh-CN" altLang="en-US" dirty="0"/>
              <a:t> </a:t>
            </a:r>
            <a:r>
              <a:rPr lang="en" dirty="0"/>
              <a:t>padded the image with</a:t>
            </a:r>
            <a:r>
              <a:rPr lang="zh-CN" altLang="en-US" dirty="0"/>
              <a:t> </a:t>
            </a:r>
            <a:r>
              <a:rPr lang="en-US" altLang="zh-CN" dirty="0"/>
              <a:t>0.5</a:t>
            </a:r>
            <a:r>
              <a:rPr lang="zh-CN" altLang="en-US" dirty="0"/>
              <a:t> </a:t>
            </a:r>
            <a:r>
              <a:rPr lang="en" dirty="0"/>
              <a:t>(round down) of the the height and width of the filter. </a:t>
            </a:r>
            <a:r>
              <a:rPr lang="en-US" altLang="zh-CN" dirty="0"/>
              <a:t>After</a:t>
            </a:r>
            <a:r>
              <a:rPr lang="zh-CN" altLang="en-US" dirty="0"/>
              <a:t> </a:t>
            </a:r>
            <a:r>
              <a:rPr lang="en-US" altLang="zh-CN" dirty="0"/>
              <a:t>that,</a:t>
            </a:r>
            <a:r>
              <a:rPr lang="zh-CN" altLang="en-US" dirty="0"/>
              <a:t> </a:t>
            </a:r>
            <a:r>
              <a:rPr lang="en-US" altLang="zh-CN" dirty="0"/>
              <a:t>I</a:t>
            </a:r>
            <a:r>
              <a:rPr lang="zh-CN" altLang="en-US" dirty="0"/>
              <a:t> </a:t>
            </a:r>
            <a:r>
              <a:rPr lang="en-US" altLang="zh-CN" dirty="0"/>
              <a:t>create</a:t>
            </a:r>
            <a:r>
              <a:rPr lang="zh-CN" altLang="en-US" dirty="0"/>
              <a:t> </a:t>
            </a:r>
            <a:r>
              <a:rPr lang="en-US" altLang="zh-CN" dirty="0"/>
              <a:t>a</a:t>
            </a:r>
            <a:r>
              <a:rPr lang="zh-CN" altLang="en-US" dirty="0"/>
              <a:t> </a:t>
            </a:r>
            <a:r>
              <a:rPr lang="en-US" altLang="zh-CN" dirty="0"/>
              <a:t>loop</a:t>
            </a:r>
            <a:r>
              <a:rPr lang="zh-CN" altLang="en-US" dirty="0"/>
              <a:t> </a:t>
            </a:r>
            <a:r>
              <a:rPr lang="en-US" altLang="zh-CN" dirty="0"/>
              <a:t>that</a:t>
            </a:r>
            <a:r>
              <a:rPr lang="zh-CN" altLang="en-US" dirty="0"/>
              <a:t> </a:t>
            </a:r>
            <a:r>
              <a:rPr lang="en-US" altLang="zh-CN" dirty="0"/>
              <a:t>go</a:t>
            </a:r>
            <a:r>
              <a:rPr lang="zh-CN" altLang="en-US" dirty="0"/>
              <a:t> </a:t>
            </a:r>
            <a:r>
              <a:rPr lang="en-US" altLang="zh-CN" dirty="0"/>
              <a:t>through</a:t>
            </a:r>
            <a:r>
              <a:rPr lang="zh-CN" altLang="en-US" dirty="0"/>
              <a:t> </a:t>
            </a:r>
            <a:r>
              <a:rPr lang="en-US" altLang="zh-CN" dirty="0"/>
              <a:t>each</a:t>
            </a:r>
            <a:r>
              <a:rPr lang="zh-CN" altLang="en-US" dirty="0"/>
              <a:t> </a:t>
            </a:r>
            <a:r>
              <a:rPr lang="en-US" altLang="zh-CN" dirty="0"/>
              <a:t>row</a:t>
            </a:r>
            <a:r>
              <a:rPr lang="zh-CN" altLang="en-US" dirty="0"/>
              <a:t> </a:t>
            </a:r>
            <a:r>
              <a:rPr lang="en-US" altLang="zh-CN" dirty="0"/>
              <a:t>and</a:t>
            </a:r>
            <a:r>
              <a:rPr lang="zh-CN" altLang="en-US" dirty="0"/>
              <a:t> </a:t>
            </a:r>
            <a:r>
              <a:rPr lang="en-US" altLang="zh-CN" dirty="0"/>
              <a:t>column</a:t>
            </a:r>
            <a:r>
              <a:rPr lang="zh-CN" altLang="en-US" dirty="0"/>
              <a:t> </a:t>
            </a:r>
            <a:r>
              <a:rPr lang="en-US" altLang="zh-CN" dirty="0"/>
              <a:t>of</a:t>
            </a:r>
            <a:r>
              <a:rPr lang="zh-CN" altLang="en-US" dirty="0"/>
              <a:t> </a:t>
            </a:r>
            <a:r>
              <a:rPr lang="en-US" altLang="zh-CN" dirty="0"/>
              <a:t>the</a:t>
            </a:r>
            <a:r>
              <a:rPr lang="zh-CN" altLang="en-US" dirty="0"/>
              <a:t> </a:t>
            </a:r>
            <a:r>
              <a:rPr lang="en-US" altLang="zh-CN" dirty="0"/>
              <a:t>image</a:t>
            </a:r>
            <a:r>
              <a:rPr lang="zh-CN" altLang="en-US" dirty="0"/>
              <a:t> </a:t>
            </a:r>
            <a:r>
              <a:rPr lang="en-US" altLang="zh-CN" dirty="0"/>
              <a:t>to</a:t>
            </a:r>
            <a:r>
              <a:rPr lang="zh-CN" altLang="en-US" dirty="0"/>
              <a:t> </a:t>
            </a:r>
            <a:r>
              <a:rPr lang="en-US" altLang="zh-CN" dirty="0"/>
              <a:t>get</a:t>
            </a:r>
            <a:r>
              <a:rPr lang="zh-CN" altLang="en-US" dirty="0"/>
              <a:t> </a:t>
            </a:r>
            <a:r>
              <a:rPr lang="en-US" altLang="zh-CN" dirty="0"/>
              <a:t>the</a:t>
            </a:r>
            <a:r>
              <a:rPr lang="zh-CN" altLang="en-US" dirty="0"/>
              <a:t> </a:t>
            </a:r>
            <a:r>
              <a:rPr lang="en-US" altLang="zh-CN" dirty="0"/>
              <a:t>center</a:t>
            </a:r>
            <a:r>
              <a:rPr lang="zh-CN" altLang="en-US" dirty="0"/>
              <a:t> </a:t>
            </a:r>
            <a:r>
              <a:rPr lang="en-US" altLang="zh-CN" dirty="0"/>
              <a:t>pixel</a:t>
            </a:r>
            <a:r>
              <a:rPr lang="zh-CN" altLang="en-US" dirty="0"/>
              <a:t> </a:t>
            </a:r>
            <a:r>
              <a:rPr lang="en-US" altLang="zh-CN" dirty="0"/>
              <a:t>of</a:t>
            </a:r>
            <a:r>
              <a:rPr lang="zh-CN" altLang="en-US" dirty="0"/>
              <a:t> </a:t>
            </a:r>
            <a:r>
              <a:rPr lang="en-US" altLang="zh-CN" dirty="0"/>
              <a:t>each</a:t>
            </a:r>
            <a:r>
              <a:rPr lang="zh-CN" altLang="en-US" dirty="0"/>
              <a:t> </a:t>
            </a:r>
            <a:r>
              <a:rPr lang="en-US" altLang="zh-CN" dirty="0"/>
              <a:t>padding.</a:t>
            </a:r>
            <a:r>
              <a:rPr lang="zh-CN" altLang="en-US" dirty="0"/>
              <a:t> </a:t>
            </a:r>
            <a:r>
              <a:rPr lang="en-US" altLang="zh-CN" dirty="0"/>
              <a:t>I</a:t>
            </a:r>
            <a:r>
              <a:rPr lang="zh-CN" altLang="en-US" dirty="0"/>
              <a:t> </a:t>
            </a:r>
            <a:r>
              <a:rPr lang="en-US" altLang="zh-CN" dirty="0"/>
              <a:t>then</a:t>
            </a:r>
            <a:r>
              <a:rPr lang="zh-CN" altLang="en-US" dirty="0"/>
              <a:t> </a:t>
            </a:r>
            <a:r>
              <a:rPr lang="en-US" altLang="zh-CN" dirty="0"/>
              <a:t>use</a:t>
            </a:r>
            <a:r>
              <a:rPr lang="zh-CN" altLang="en-US" dirty="0"/>
              <a:t> </a:t>
            </a:r>
            <a:r>
              <a:rPr lang="en-US" altLang="zh-CN" dirty="0"/>
              <a:t>the</a:t>
            </a:r>
            <a:r>
              <a:rPr lang="zh-CN" altLang="en-US" dirty="0"/>
              <a:t> </a:t>
            </a:r>
            <a:r>
              <a:rPr lang="en-US" altLang="zh-CN" dirty="0"/>
              <a:t>filter</a:t>
            </a:r>
            <a:r>
              <a:rPr lang="zh-CN" altLang="en-US" dirty="0"/>
              <a:t> </a:t>
            </a:r>
            <a:r>
              <a:rPr lang="en-US" altLang="zh-CN" dirty="0"/>
              <a:t>by</a:t>
            </a:r>
            <a:r>
              <a:rPr lang="zh-CN" altLang="en-US" dirty="0"/>
              <a:t> </a:t>
            </a:r>
            <a:r>
              <a:rPr lang="en-US" altLang="zh-CN" dirty="0"/>
              <a:t>summing</a:t>
            </a:r>
            <a:r>
              <a:rPr lang="zh-CN" altLang="en-US" dirty="0"/>
              <a:t> </a:t>
            </a:r>
            <a:r>
              <a:rPr lang="en-US" altLang="zh-CN" dirty="0"/>
              <a:t>up</a:t>
            </a:r>
            <a:r>
              <a:rPr lang="zh-CN" altLang="en-US" dirty="0"/>
              <a:t> </a:t>
            </a:r>
            <a:r>
              <a:rPr lang="en-US" altLang="zh-CN" dirty="0"/>
              <a:t>the</a:t>
            </a:r>
            <a:r>
              <a:rPr lang="zh-CN" altLang="en-US" dirty="0"/>
              <a:t> </a:t>
            </a:r>
            <a:r>
              <a:rPr lang="en-US" altLang="zh-CN" dirty="0"/>
              <a:t>multiplication</a:t>
            </a:r>
            <a:r>
              <a:rPr lang="zh-CN" altLang="en-US" dirty="0"/>
              <a:t> </a:t>
            </a:r>
            <a:r>
              <a:rPr lang="en-US" altLang="zh-CN" dirty="0"/>
              <a:t>of</a:t>
            </a:r>
            <a:r>
              <a:rPr lang="zh-CN" altLang="en-US" dirty="0"/>
              <a:t> </a:t>
            </a:r>
            <a:r>
              <a:rPr lang="en-US" altLang="zh-CN" dirty="0"/>
              <a:t>kernel</a:t>
            </a:r>
            <a:r>
              <a:rPr lang="zh-CN" altLang="en-US" dirty="0"/>
              <a:t> </a:t>
            </a:r>
            <a:r>
              <a:rPr lang="en-US" altLang="zh-CN" dirty="0"/>
              <a:t>and</a:t>
            </a:r>
            <a:r>
              <a:rPr lang="zh-CN" altLang="en-US" dirty="0"/>
              <a:t> </a:t>
            </a:r>
            <a:r>
              <a:rPr lang="en-US" altLang="zh-CN" dirty="0"/>
              <a:t>filter,</a:t>
            </a:r>
            <a:r>
              <a:rPr lang="zh-CN" altLang="en-US" dirty="0"/>
              <a:t> </a:t>
            </a:r>
            <a:r>
              <a:rPr lang="en-US" altLang="zh-CN" dirty="0"/>
              <a:t>and</a:t>
            </a:r>
            <a:r>
              <a:rPr lang="zh-CN" altLang="en-US" dirty="0"/>
              <a:t> </a:t>
            </a:r>
            <a:r>
              <a:rPr lang="en-US" altLang="zh-CN" dirty="0"/>
              <a:t>finally</a:t>
            </a:r>
            <a:r>
              <a:rPr lang="zh-CN" altLang="en-US" dirty="0"/>
              <a:t> </a:t>
            </a:r>
            <a:r>
              <a:rPr lang="en-US" altLang="zh-CN" dirty="0"/>
              <a:t>replace</a:t>
            </a:r>
            <a:r>
              <a:rPr lang="zh-CN" altLang="en-US" dirty="0"/>
              <a:t> </a:t>
            </a:r>
            <a:r>
              <a:rPr lang="en-US" altLang="zh-CN" dirty="0"/>
              <a:t>the</a:t>
            </a:r>
            <a:r>
              <a:rPr lang="zh-CN" altLang="en-US" dirty="0"/>
              <a:t> </a:t>
            </a:r>
            <a:r>
              <a:rPr lang="en-US" altLang="zh-CN" dirty="0"/>
              <a:t>original</a:t>
            </a:r>
            <a:r>
              <a:rPr lang="zh-CN" altLang="en-US" dirty="0"/>
              <a:t> </a:t>
            </a:r>
            <a:r>
              <a:rPr lang="en-US" altLang="zh-CN" dirty="0"/>
              <a:t>number</a:t>
            </a:r>
            <a:r>
              <a:rPr lang="zh-CN" altLang="en-US" dirty="0"/>
              <a:t> </a:t>
            </a:r>
            <a:r>
              <a:rPr lang="en-US" altLang="zh-CN" dirty="0"/>
              <a:t>with</a:t>
            </a:r>
            <a:r>
              <a:rPr lang="zh-CN" altLang="en-US" dirty="0"/>
              <a:t> </a:t>
            </a:r>
            <a:r>
              <a:rPr lang="en-US" altLang="zh-CN" dirty="0"/>
              <a:t>the</a:t>
            </a:r>
            <a:r>
              <a:rPr lang="zh-CN" altLang="en-US" dirty="0"/>
              <a:t> </a:t>
            </a:r>
            <a:r>
              <a:rPr lang="en-US" altLang="zh-CN" dirty="0"/>
              <a:t>result</a:t>
            </a:r>
            <a:r>
              <a:rPr lang="zh-CN" altLang="en-US" dirty="0"/>
              <a:t> </a:t>
            </a:r>
            <a:r>
              <a:rPr lang="en-US" altLang="zh-CN" dirty="0"/>
              <a:t>I</a:t>
            </a:r>
            <a:r>
              <a:rPr lang="zh-CN" altLang="en-US" dirty="0"/>
              <a:t> </a:t>
            </a:r>
            <a:r>
              <a:rPr lang="en-US" altLang="zh-CN" dirty="0"/>
              <a:t>just</a:t>
            </a:r>
            <a:r>
              <a:rPr lang="zh-CN" altLang="en-US" dirty="0"/>
              <a:t> </a:t>
            </a:r>
            <a:r>
              <a:rPr lang="en-US" altLang="zh-CN" dirty="0"/>
              <a:t>compute.</a:t>
            </a:r>
            <a:endParaRPr kumimoji="0" lang="en-CN" sz="1400" b="0" i="0" u="none" strike="noStrike" cap="none" spc="0" normalizeH="0" baseline="0" dirty="0">
              <a:ln>
                <a:noFill/>
              </a:ln>
              <a:solidFill>
                <a:srgbClr val="000000"/>
              </a:solidFill>
              <a:effectLst/>
              <a:uFillTx/>
              <a:latin typeface="+mj-lt"/>
              <a:ea typeface="+mj-ea"/>
              <a:cs typeface="+mj-cs"/>
              <a:sym typeface="Aria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112;p27"/>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1: Image filtering</a:t>
            </a:r>
          </a:p>
        </p:txBody>
      </p:sp>
      <p:sp>
        <p:nvSpPr>
          <p:cNvPr id="213" name="Google Shape;114;p27"/>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t>Small blur with a box filter</a:t>
            </a:r>
          </a:p>
          <a:p>
            <a:pPr marL="0" indent="0">
              <a:spcBef>
                <a:spcPts val="1600"/>
              </a:spcBef>
              <a:buSzTx/>
              <a:buNone/>
              <a:defRPr sz="1400"/>
            </a:pPr>
            <a:r>
              <a:t>[insert the results from project-1.ipynb using 1b_cat.bmp with the box filter here]</a:t>
            </a:r>
          </a:p>
        </p:txBody>
      </p:sp>
      <p:sp>
        <p:nvSpPr>
          <p:cNvPr id="214" name="Google Shape;113;p27"/>
          <p:cNvSpPr txBox="1">
            <a:spLocks noGrp="1"/>
          </p:cNvSpPr>
          <p:nvPr>
            <p:ph type="body" sz="half" idx="1"/>
          </p:nvPr>
        </p:nvSpPr>
        <p:spPr>
          <a:xfrm>
            <a:off x="311699" y="1152475"/>
            <a:ext cx="3999902" cy="3416400"/>
          </a:xfrm>
          <a:prstGeom prst="rect">
            <a:avLst/>
          </a:prstGeom>
        </p:spPr>
        <p:txBody>
          <a:bodyPr/>
          <a:lstStyle/>
          <a:p>
            <a:pPr marL="0" indent="0">
              <a:buSzTx/>
              <a:buNone/>
              <a:defRPr b="1"/>
            </a:pPr>
            <a:r>
              <a:t>Identity filter</a:t>
            </a:r>
          </a:p>
          <a:p>
            <a:pPr marL="0" indent="0">
              <a:spcBef>
                <a:spcPts val="1600"/>
              </a:spcBef>
              <a:buSzTx/>
              <a:buNone/>
            </a:pPr>
            <a:r>
              <a:t>[insert the results from project-1.ipynb using 1b_cat.bmp with the identity filter here]</a:t>
            </a:r>
          </a:p>
        </p:txBody>
      </p:sp>
      <p:pic>
        <p:nvPicPr>
          <p:cNvPr id="2" name="Picture 1">
            <a:extLst>
              <a:ext uri="{FF2B5EF4-FFF2-40B4-BE49-F238E27FC236}">
                <a16:creationId xmlns:a16="http://schemas.microsoft.com/office/drawing/2014/main" id="{EF46E9E0-A9D7-8D48-8CC5-6D76BEA84117}"/>
              </a:ext>
            </a:extLst>
          </p:cNvPr>
          <p:cNvPicPr>
            <a:picLocks noChangeAspect="1"/>
          </p:cNvPicPr>
          <p:nvPr/>
        </p:nvPicPr>
        <p:blipFill>
          <a:blip r:embed="rId2"/>
          <a:stretch>
            <a:fillRect/>
          </a:stretch>
        </p:blipFill>
        <p:spPr>
          <a:xfrm>
            <a:off x="747488" y="2249059"/>
            <a:ext cx="3128324" cy="2572685"/>
          </a:xfrm>
          <a:prstGeom prst="rect">
            <a:avLst/>
          </a:prstGeom>
        </p:spPr>
      </p:pic>
      <p:pic>
        <p:nvPicPr>
          <p:cNvPr id="5" name="Picture 4">
            <a:extLst>
              <a:ext uri="{FF2B5EF4-FFF2-40B4-BE49-F238E27FC236}">
                <a16:creationId xmlns:a16="http://schemas.microsoft.com/office/drawing/2014/main" id="{BAE3164B-C4C6-AF4D-92C8-E3A6D782173C}"/>
              </a:ext>
            </a:extLst>
          </p:cNvPr>
          <p:cNvPicPr>
            <a:picLocks noChangeAspect="1"/>
          </p:cNvPicPr>
          <p:nvPr/>
        </p:nvPicPr>
        <p:blipFill>
          <a:blip r:embed="rId3"/>
          <a:stretch>
            <a:fillRect/>
          </a:stretch>
        </p:blipFill>
        <p:spPr>
          <a:xfrm>
            <a:off x="4832399" y="2157114"/>
            <a:ext cx="3002545" cy="2756574"/>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Google Shape;119;p28"/>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1: Image filtering</a:t>
            </a:r>
          </a:p>
        </p:txBody>
      </p:sp>
      <p:sp>
        <p:nvSpPr>
          <p:cNvPr id="217" name="Google Shape;120;p28"/>
          <p:cNvSpPr txBox="1">
            <a:spLocks noGrp="1"/>
          </p:cNvSpPr>
          <p:nvPr>
            <p:ph type="body" sz="half" idx="1"/>
          </p:nvPr>
        </p:nvSpPr>
        <p:spPr>
          <a:xfrm>
            <a:off x="311699" y="1152475"/>
            <a:ext cx="3999902" cy="3416400"/>
          </a:xfrm>
          <a:prstGeom prst="rect">
            <a:avLst/>
          </a:prstGeom>
        </p:spPr>
        <p:txBody>
          <a:bodyPr/>
          <a:lstStyle/>
          <a:p>
            <a:pPr marL="0" indent="0">
              <a:buSzTx/>
              <a:buNone/>
              <a:defRPr b="1"/>
            </a:pPr>
            <a:r>
              <a:t>Sobel filter</a:t>
            </a:r>
          </a:p>
          <a:p>
            <a:pPr marL="0" indent="0">
              <a:spcBef>
                <a:spcPts val="1600"/>
              </a:spcBef>
              <a:buSzTx/>
              <a:buNone/>
            </a:pPr>
            <a:r>
              <a:t>[insert the results from project-1.ipynb using 1b_cat.bmp with the Sobel filter here]</a:t>
            </a:r>
          </a:p>
        </p:txBody>
      </p:sp>
      <p:sp>
        <p:nvSpPr>
          <p:cNvPr id="218" name="Google Shape;121;p28"/>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t>Discrete Laplacian filter</a:t>
            </a:r>
          </a:p>
          <a:p>
            <a:pPr marL="0" indent="0">
              <a:spcBef>
                <a:spcPts val="1600"/>
              </a:spcBef>
              <a:buSzTx/>
              <a:buNone/>
              <a:defRPr sz="1400"/>
            </a:pPr>
            <a:r>
              <a:t>[insert the results from project-1.ipynb using 1b_cat.bmp with the discrete Laplacian filter here]</a:t>
            </a:r>
          </a:p>
        </p:txBody>
      </p:sp>
      <p:pic>
        <p:nvPicPr>
          <p:cNvPr id="2" name="Picture 1">
            <a:extLst>
              <a:ext uri="{FF2B5EF4-FFF2-40B4-BE49-F238E27FC236}">
                <a16:creationId xmlns:a16="http://schemas.microsoft.com/office/drawing/2014/main" id="{65CA8AB4-B28F-4B48-99D0-8C97043C4D9F}"/>
              </a:ext>
            </a:extLst>
          </p:cNvPr>
          <p:cNvPicPr>
            <a:picLocks noChangeAspect="1"/>
          </p:cNvPicPr>
          <p:nvPr/>
        </p:nvPicPr>
        <p:blipFill>
          <a:blip r:embed="rId2"/>
          <a:stretch>
            <a:fillRect/>
          </a:stretch>
        </p:blipFill>
        <p:spPr>
          <a:xfrm>
            <a:off x="549513" y="2168164"/>
            <a:ext cx="3339632" cy="2805653"/>
          </a:xfrm>
          <a:prstGeom prst="rect">
            <a:avLst/>
          </a:prstGeom>
        </p:spPr>
      </p:pic>
      <p:pic>
        <p:nvPicPr>
          <p:cNvPr id="3" name="Picture 2">
            <a:extLst>
              <a:ext uri="{FF2B5EF4-FFF2-40B4-BE49-F238E27FC236}">
                <a16:creationId xmlns:a16="http://schemas.microsoft.com/office/drawing/2014/main" id="{4CD34D65-D310-5546-9143-EDA436843B3A}"/>
              </a:ext>
            </a:extLst>
          </p:cNvPr>
          <p:cNvPicPr>
            <a:picLocks noChangeAspect="1"/>
          </p:cNvPicPr>
          <p:nvPr/>
        </p:nvPicPr>
        <p:blipFill>
          <a:blip r:embed="rId3"/>
          <a:stretch>
            <a:fillRect/>
          </a:stretch>
        </p:blipFill>
        <p:spPr>
          <a:xfrm>
            <a:off x="5254857" y="2200549"/>
            <a:ext cx="3339630" cy="284580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Google Shape;126;p29"/>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1: Hybrid images</a:t>
            </a:r>
          </a:p>
        </p:txBody>
      </p:sp>
      <p:sp>
        <p:nvSpPr>
          <p:cNvPr id="221" name="Google Shape;127;p29"/>
          <p:cNvSpPr txBox="1">
            <a:spLocks noGrp="1"/>
          </p:cNvSpPr>
          <p:nvPr>
            <p:ph type="body" sz="half" idx="1"/>
          </p:nvPr>
        </p:nvSpPr>
        <p:spPr>
          <a:xfrm>
            <a:off x="311699" y="1152475"/>
            <a:ext cx="3999902" cy="3416400"/>
          </a:xfrm>
          <a:prstGeom prst="rect">
            <a:avLst/>
          </a:prstGeom>
        </p:spPr>
        <p:txBody>
          <a:bodyPr/>
          <a:lstStyle>
            <a:lvl1pPr marL="0" indent="0">
              <a:spcBef>
                <a:spcPts val="1600"/>
              </a:spcBef>
              <a:buSzTx/>
              <a:buNone/>
            </a:lvl1pPr>
          </a:lstStyle>
          <a:p>
            <a:r>
              <a:t>[Describe the three main steps of create_hybrid_image() here. Explain how to ensure the output values are within the appropriate range for matplotlib visualizations.]</a:t>
            </a:r>
          </a:p>
        </p:txBody>
      </p:sp>
      <p:sp>
        <p:nvSpPr>
          <p:cNvPr id="222" name="Google Shape;128;p29"/>
          <p:cNvSpPr txBox="1">
            <a:spLocks noGrp="1"/>
          </p:cNvSpPr>
          <p:nvPr>
            <p:ph type="body" idx="21"/>
          </p:nvPr>
        </p:nvSpPr>
        <p:spPr>
          <a:xfrm>
            <a:off x="4832399" y="1152474"/>
            <a:ext cx="4066504" cy="386258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pPr marL="0" indent="0">
              <a:buSzTx/>
              <a:buNone/>
              <a:defRPr sz="1400" b="1"/>
            </a:pPr>
            <a:r>
              <a:rPr dirty="0"/>
              <a:t>Cat + Dog</a:t>
            </a:r>
          </a:p>
          <a:p>
            <a:pPr marL="0" indent="0">
              <a:spcBef>
                <a:spcPts val="1600"/>
              </a:spcBef>
              <a:buSzTx/>
              <a:buNone/>
              <a:defRPr sz="1400"/>
            </a:pPr>
            <a:r>
              <a:rPr dirty="0"/>
              <a:t>[insert your hybrid image here]</a:t>
            </a:r>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lang="en-US" dirty="0"/>
          </a:p>
          <a:p>
            <a:pPr marL="0" indent="0">
              <a:spcBef>
                <a:spcPts val="1600"/>
              </a:spcBef>
              <a:buSzTx/>
              <a:buNone/>
              <a:defRPr sz="1400"/>
            </a:pPr>
            <a:endParaRPr lang="en-US" dirty="0"/>
          </a:p>
          <a:p>
            <a:pPr marL="0" indent="0">
              <a:spcBef>
                <a:spcPts val="1600"/>
              </a:spcBef>
              <a:buSzTx/>
              <a:buNone/>
              <a:defRPr sz="1400"/>
            </a:pPr>
            <a:endParaRPr dirty="0"/>
          </a:p>
          <a:p>
            <a:pPr marL="0" indent="0">
              <a:spcBef>
                <a:spcPts val="1600"/>
              </a:spcBef>
              <a:buSzTx/>
              <a:buNone/>
              <a:defRPr sz="1400"/>
            </a:pPr>
            <a:r>
              <a:rPr dirty="0"/>
              <a:t>Cutoff frequency: </a:t>
            </a:r>
            <a:r>
              <a:rPr lang="en-US" altLang="zh-CN" dirty="0"/>
              <a:t>7</a:t>
            </a:r>
            <a:endParaRPr dirty="0"/>
          </a:p>
        </p:txBody>
      </p:sp>
      <p:pic>
        <p:nvPicPr>
          <p:cNvPr id="2" name="Picture 1">
            <a:extLst>
              <a:ext uri="{FF2B5EF4-FFF2-40B4-BE49-F238E27FC236}">
                <a16:creationId xmlns:a16="http://schemas.microsoft.com/office/drawing/2014/main" id="{C6590694-5800-4941-9363-E2D06B80A095}"/>
              </a:ext>
            </a:extLst>
          </p:cNvPr>
          <p:cNvPicPr>
            <a:picLocks noChangeAspect="1"/>
          </p:cNvPicPr>
          <p:nvPr/>
        </p:nvPicPr>
        <p:blipFill>
          <a:blip r:embed="rId2"/>
          <a:stretch>
            <a:fillRect/>
          </a:stretch>
        </p:blipFill>
        <p:spPr>
          <a:xfrm>
            <a:off x="4832399" y="1460573"/>
            <a:ext cx="3444335" cy="3108302"/>
          </a:xfrm>
          <a:prstGeom prst="rect">
            <a:avLst/>
          </a:prstGeom>
        </p:spPr>
      </p:pic>
      <p:sp>
        <p:nvSpPr>
          <p:cNvPr id="3" name="TextBox 2">
            <a:extLst>
              <a:ext uri="{FF2B5EF4-FFF2-40B4-BE49-F238E27FC236}">
                <a16:creationId xmlns:a16="http://schemas.microsoft.com/office/drawing/2014/main" id="{963ADD11-530C-5646-9CBA-C324DDDF4893}"/>
              </a:ext>
            </a:extLst>
          </p:cNvPr>
          <p:cNvSpPr txBox="1"/>
          <p:nvPr/>
        </p:nvSpPr>
        <p:spPr>
          <a:xfrm>
            <a:off x="311699" y="2488676"/>
            <a:ext cx="4109472"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342900" indent="-342900">
              <a:buAutoNum type="arabicPeriod"/>
            </a:pPr>
            <a:r>
              <a:rPr lang="en-US" altLang="zh-CN" dirty="0"/>
              <a:t>I</a:t>
            </a:r>
            <a:r>
              <a:rPr lang="zh-CN" altLang="en-US" dirty="0"/>
              <a:t> </a:t>
            </a:r>
            <a:r>
              <a:rPr lang="en-US" altLang="zh-CN" dirty="0"/>
              <a:t>first</a:t>
            </a:r>
            <a:r>
              <a:rPr lang="zh-CN" altLang="en-US" dirty="0"/>
              <a:t> </a:t>
            </a:r>
            <a:r>
              <a:rPr lang="en-US" altLang="zh-CN" dirty="0"/>
              <a:t>applied</a:t>
            </a:r>
            <a:r>
              <a:rPr lang="zh-CN" altLang="en-US" dirty="0"/>
              <a:t> </a:t>
            </a:r>
            <a:r>
              <a:rPr lang="en-US" altLang="zh-CN" dirty="0"/>
              <a:t>low</a:t>
            </a:r>
            <a:r>
              <a:rPr lang="zh-CN" altLang="en-US" dirty="0"/>
              <a:t> </a:t>
            </a:r>
            <a:r>
              <a:rPr lang="en-US" altLang="zh-CN" dirty="0"/>
              <a:t>frequency</a:t>
            </a:r>
            <a:r>
              <a:rPr lang="zh-CN" altLang="en-US" dirty="0"/>
              <a:t> </a:t>
            </a:r>
            <a:r>
              <a:rPr lang="en-US" altLang="zh-CN" dirty="0"/>
              <a:t>filter</a:t>
            </a:r>
            <a:r>
              <a:rPr lang="zh-CN" altLang="en-US" dirty="0"/>
              <a:t> </a:t>
            </a:r>
            <a:r>
              <a:rPr lang="en-US" altLang="zh-CN" dirty="0"/>
              <a:t>of</a:t>
            </a:r>
            <a:r>
              <a:rPr lang="zh-CN" altLang="en-US" dirty="0"/>
              <a:t> </a:t>
            </a:r>
            <a:r>
              <a:rPr lang="en-US" altLang="zh-CN" dirty="0"/>
              <a:t>image</a:t>
            </a:r>
            <a:r>
              <a:rPr lang="zh-CN" altLang="en-US" dirty="0"/>
              <a:t> </a:t>
            </a:r>
            <a:r>
              <a:rPr lang="en-US" altLang="zh-CN" dirty="0"/>
              <a:t>1</a:t>
            </a:r>
            <a:r>
              <a:rPr lang="zh-CN" altLang="en-US" dirty="0"/>
              <a:t> </a:t>
            </a:r>
            <a:r>
              <a:rPr lang="en-US" altLang="zh-CN" dirty="0"/>
              <a:t>by</a:t>
            </a:r>
            <a:r>
              <a:rPr lang="zh-CN" altLang="en-US" dirty="0"/>
              <a:t> </a:t>
            </a:r>
            <a:r>
              <a:rPr lang="en-US" altLang="zh-CN" dirty="0"/>
              <a:t>using</a:t>
            </a:r>
            <a:r>
              <a:rPr lang="zh-CN" altLang="en-US" dirty="0"/>
              <a:t> </a:t>
            </a:r>
            <a:r>
              <a:rPr lang="en-US" dirty="0"/>
              <a:t>my_conv2d_numpy</a:t>
            </a:r>
            <a:r>
              <a:rPr lang="en-US" altLang="zh-CN" dirty="0"/>
              <a:t>()</a:t>
            </a:r>
            <a:r>
              <a:rPr lang="zh-CN" altLang="en-US" dirty="0"/>
              <a:t> </a:t>
            </a:r>
            <a:r>
              <a:rPr lang="en-US" altLang="zh-CN" dirty="0"/>
              <a:t>with</a:t>
            </a:r>
            <a:r>
              <a:rPr lang="zh-CN" altLang="en-US" dirty="0"/>
              <a:t> </a:t>
            </a:r>
            <a:r>
              <a:rPr lang="en-US" altLang="zh-CN" dirty="0"/>
              <a:t>the</a:t>
            </a:r>
            <a:r>
              <a:rPr lang="zh-CN" altLang="en-US" dirty="0"/>
              <a:t> </a:t>
            </a:r>
            <a:r>
              <a:rPr lang="en-US" altLang="zh-CN" dirty="0"/>
              <a:t>given</a:t>
            </a:r>
            <a:r>
              <a:rPr lang="zh-CN" altLang="en-US" dirty="0"/>
              <a:t> </a:t>
            </a:r>
            <a:r>
              <a:rPr lang="en-US" altLang="zh-CN" dirty="0"/>
              <a:t>filter.</a:t>
            </a:r>
            <a:r>
              <a:rPr lang="zh-CN" altLang="en-US" dirty="0"/>
              <a:t> </a:t>
            </a:r>
            <a:endParaRPr lang="en-US" altLang="zh-CN" dirty="0"/>
          </a:p>
          <a:p>
            <a:pPr marL="342900" indent="-342900">
              <a:buAutoNum type="arabicPeriod"/>
            </a:pPr>
            <a:r>
              <a:rPr lang="en-US" altLang="zh-CN" dirty="0"/>
              <a:t>I</a:t>
            </a:r>
            <a:r>
              <a:rPr lang="zh-CN" altLang="en-US" dirty="0"/>
              <a:t> </a:t>
            </a:r>
            <a:r>
              <a:rPr lang="en-US" altLang="zh-CN" dirty="0"/>
              <a:t>then</a:t>
            </a:r>
            <a:r>
              <a:rPr lang="zh-CN" altLang="en-US" dirty="0"/>
              <a:t> </a:t>
            </a:r>
            <a:r>
              <a:rPr lang="en-US" altLang="zh-CN" dirty="0"/>
              <a:t>subtract</a:t>
            </a:r>
            <a:r>
              <a:rPr lang="zh-CN" altLang="en-US" dirty="0"/>
              <a:t> </a:t>
            </a:r>
            <a:r>
              <a:rPr lang="en-US" altLang="zh-CN" dirty="0"/>
              <a:t>the</a:t>
            </a:r>
            <a:r>
              <a:rPr lang="zh-CN" altLang="en-US" dirty="0"/>
              <a:t> </a:t>
            </a:r>
            <a:r>
              <a:rPr lang="en-US" altLang="zh-CN" dirty="0"/>
              <a:t>image</a:t>
            </a:r>
            <a:r>
              <a:rPr lang="zh-CN" altLang="en-US" dirty="0"/>
              <a:t> </a:t>
            </a:r>
            <a:r>
              <a:rPr lang="en-US" altLang="zh-CN" dirty="0"/>
              <a:t>2</a:t>
            </a:r>
            <a:r>
              <a:rPr lang="zh-CN" altLang="en-US" dirty="0"/>
              <a:t> </a:t>
            </a:r>
            <a:r>
              <a:rPr lang="en-US" altLang="zh-CN" dirty="0"/>
              <a:t>by</a:t>
            </a:r>
            <a:r>
              <a:rPr lang="zh-CN" altLang="en-US" dirty="0"/>
              <a:t> </a:t>
            </a:r>
            <a:r>
              <a:rPr lang="en-US" altLang="zh-CN" dirty="0"/>
              <a:t>low</a:t>
            </a:r>
            <a:r>
              <a:rPr lang="zh-CN" altLang="en-US" dirty="0"/>
              <a:t> </a:t>
            </a:r>
            <a:r>
              <a:rPr lang="en-US" altLang="zh-CN" dirty="0"/>
              <a:t>frequency</a:t>
            </a:r>
            <a:r>
              <a:rPr lang="zh-CN" altLang="en-US" dirty="0"/>
              <a:t> </a:t>
            </a:r>
            <a:r>
              <a:rPr lang="en-US" altLang="zh-CN" dirty="0"/>
              <a:t>version</a:t>
            </a:r>
            <a:r>
              <a:rPr lang="zh-CN" altLang="en-US" dirty="0"/>
              <a:t> </a:t>
            </a:r>
            <a:r>
              <a:rPr lang="en-US" altLang="zh-CN" dirty="0"/>
              <a:t>of</a:t>
            </a:r>
            <a:r>
              <a:rPr lang="zh-CN" altLang="en-US" dirty="0"/>
              <a:t> </a:t>
            </a:r>
            <a:r>
              <a:rPr lang="en-US" altLang="zh-CN" dirty="0"/>
              <a:t>itself</a:t>
            </a:r>
            <a:r>
              <a:rPr lang="zh-CN" altLang="en-US" dirty="0"/>
              <a:t> </a:t>
            </a:r>
            <a:r>
              <a:rPr lang="en-US" altLang="zh-CN" dirty="0"/>
              <a:t>to</a:t>
            </a:r>
            <a:r>
              <a:rPr lang="zh-CN" altLang="en-US" dirty="0"/>
              <a:t> </a:t>
            </a:r>
            <a:r>
              <a:rPr lang="en-US" altLang="zh-CN" dirty="0"/>
              <a:t>get</a:t>
            </a:r>
            <a:r>
              <a:rPr lang="zh-CN" altLang="en-US" dirty="0"/>
              <a:t> </a:t>
            </a:r>
            <a:r>
              <a:rPr lang="en-US" altLang="zh-CN" dirty="0"/>
              <a:t>a</a:t>
            </a:r>
            <a:r>
              <a:rPr lang="zh-CN" altLang="en-US" dirty="0"/>
              <a:t> </a:t>
            </a:r>
            <a:r>
              <a:rPr lang="en-US" altLang="zh-CN" dirty="0"/>
              <a:t>high</a:t>
            </a:r>
            <a:r>
              <a:rPr lang="zh-CN" altLang="en-US" dirty="0"/>
              <a:t> </a:t>
            </a:r>
            <a:r>
              <a:rPr lang="en-US" altLang="zh-CN" dirty="0"/>
              <a:t>frequency</a:t>
            </a:r>
            <a:r>
              <a:rPr lang="zh-CN" altLang="en-US" dirty="0"/>
              <a:t> </a:t>
            </a:r>
            <a:r>
              <a:rPr lang="en-US" altLang="zh-CN" dirty="0"/>
              <a:t>version</a:t>
            </a:r>
            <a:r>
              <a:rPr lang="zh-CN" altLang="en-US" dirty="0"/>
              <a:t> </a:t>
            </a:r>
            <a:r>
              <a:rPr lang="en-US" altLang="zh-CN" dirty="0"/>
              <a:t>of</a:t>
            </a:r>
            <a:r>
              <a:rPr lang="zh-CN" altLang="en-US" dirty="0"/>
              <a:t> </a:t>
            </a:r>
            <a:r>
              <a:rPr lang="en-US" altLang="zh-CN" dirty="0"/>
              <a:t>image</a:t>
            </a:r>
            <a:r>
              <a:rPr lang="zh-CN" altLang="en-US" dirty="0"/>
              <a:t> </a:t>
            </a:r>
            <a:r>
              <a:rPr lang="en-US" altLang="zh-CN" dirty="0"/>
              <a:t>2.</a:t>
            </a:r>
          </a:p>
          <a:p>
            <a:pPr marL="342900" indent="-342900">
              <a:buAutoNum type="arabicPeriod"/>
            </a:pPr>
            <a:r>
              <a:rPr lang="en-US" altLang="zh-CN" dirty="0"/>
              <a:t>Finally,</a:t>
            </a:r>
            <a:r>
              <a:rPr lang="zh-CN" altLang="en-US" dirty="0"/>
              <a:t> </a:t>
            </a:r>
            <a:r>
              <a:rPr lang="en-US" altLang="zh-CN" dirty="0"/>
              <a:t>I</a:t>
            </a:r>
            <a:r>
              <a:rPr lang="zh-CN" altLang="en-US" dirty="0"/>
              <a:t> </a:t>
            </a:r>
            <a:r>
              <a:rPr lang="en-US" altLang="zh-CN" dirty="0"/>
              <a:t>add</a:t>
            </a:r>
            <a:r>
              <a:rPr lang="zh-CN" altLang="en-US" dirty="0"/>
              <a:t> </a:t>
            </a:r>
            <a:r>
              <a:rPr lang="en-US" altLang="zh-CN" dirty="0"/>
              <a:t>the</a:t>
            </a:r>
            <a:r>
              <a:rPr lang="zh-CN" altLang="en-US" dirty="0"/>
              <a:t> </a:t>
            </a:r>
            <a:r>
              <a:rPr lang="en-US" altLang="zh-CN" dirty="0"/>
              <a:t>two</a:t>
            </a:r>
            <a:r>
              <a:rPr lang="zh-CN" altLang="en-US" dirty="0"/>
              <a:t> </a:t>
            </a:r>
            <a:r>
              <a:rPr lang="en-US" altLang="zh-CN" dirty="0"/>
              <a:t>images</a:t>
            </a:r>
            <a:r>
              <a:rPr lang="zh-CN" altLang="en-US" dirty="0"/>
              <a:t> </a:t>
            </a:r>
            <a:r>
              <a:rPr lang="en-US" altLang="zh-CN" dirty="0"/>
              <a:t>I</a:t>
            </a:r>
            <a:r>
              <a:rPr lang="zh-CN" altLang="en-US" dirty="0"/>
              <a:t> </a:t>
            </a:r>
            <a:r>
              <a:rPr lang="en-US" altLang="zh-CN" dirty="0"/>
              <a:t>got</a:t>
            </a:r>
            <a:r>
              <a:rPr lang="zh-CN" altLang="en-US" dirty="0"/>
              <a:t> </a:t>
            </a:r>
            <a:r>
              <a:rPr lang="en-US" altLang="zh-CN" dirty="0"/>
              <a:t>from</a:t>
            </a:r>
            <a:r>
              <a:rPr lang="zh-CN" altLang="en-US" dirty="0"/>
              <a:t> </a:t>
            </a:r>
            <a:r>
              <a:rPr lang="en-US" altLang="zh-CN" dirty="0"/>
              <a:t>the</a:t>
            </a:r>
            <a:r>
              <a:rPr lang="zh-CN" altLang="en-US" dirty="0"/>
              <a:t> </a:t>
            </a:r>
            <a:r>
              <a:rPr lang="en-US" altLang="zh-CN" dirty="0"/>
              <a:t>above</a:t>
            </a:r>
            <a:r>
              <a:rPr lang="zh-CN" altLang="en-US" dirty="0"/>
              <a:t> </a:t>
            </a:r>
            <a:r>
              <a:rPr lang="en-US" altLang="zh-CN" dirty="0"/>
              <a:t>2</a:t>
            </a:r>
            <a:r>
              <a:rPr lang="zh-CN" altLang="en-US" dirty="0"/>
              <a:t> </a:t>
            </a:r>
            <a:r>
              <a:rPr lang="en-US" altLang="zh-CN" dirty="0"/>
              <a:t>steps</a:t>
            </a:r>
            <a:r>
              <a:rPr lang="zh-CN" altLang="en-US" dirty="0"/>
              <a:t> </a:t>
            </a:r>
            <a:r>
              <a:rPr lang="en-US" altLang="zh-CN" dirty="0"/>
              <a:t>to</a:t>
            </a:r>
            <a:r>
              <a:rPr lang="zh-CN" altLang="en-US" dirty="0"/>
              <a:t> </a:t>
            </a:r>
            <a:r>
              <a:rPr lang="en-US" altLang="zh-CN" dirty="0"/>
              <a:t>get</a:t>
            </a:r>
            <a:r>
              <a:rPr lang="zh-CN" altLang="en-US" dirty="0"/>
              <a:t> </a:t>
            </a:r>
            <a:r>
              <a:rPr lang="en-US" altLang="zh-CN" dirty="0"/>
              <a:t>a</a:t>
            </a:r>
            <a:r>
              <a:rPr lang="zh-CN" altLang="en-US" dirty="0"/>
              <a:t> </a:t>
            </a:r>
            <a:r>
              <a:rPr lang="en-US" altLang="zh-CN" dirty="0"/>
              <a:t>hybrid</a:t>
            </a:r>
            <a:r>
              <a:rPr lang="zh-CN" altLang="en-US" dirty="0"/>
              <a:t> </a:t>
            </a:r>
            <a:r>
              <a:rPr lang="en-US" altLang="zh-CN" dirty="0"/>
              <a:t>image,</a:t>
            </a:r>
            <a:r>
              <a:rPr lang="zh-CN" altLang="en-US" dirty="0"/>
              <a:t> </a:t>
            </a:r>
            <a:r>
              <a:rPr lang="en-US" altLang="zh-CN" dirty="0"/>
              <a:t>and</a:t>
            </a:r>
            <a:r>
              <a:rPr lang="zh-CN" altLang="en-US" dirty="0"/>
              <a:t> </a:t>
            </a:r>
            <a:r>
              <a:rPr lang="en-US" altLang="zh-CN" dirty="0"/>
              <a:t>use</a:t>
            </a:r>
            <a:r>
              <a:rPr lang="zh-CN" altLang="en-US" dirty="0"/>
              <a:t> </a:t>
            </a:r>
            <a:r>
              <a:rPr lang="en-US" altLang="zh-CN" dirty="0" err="1"/>
              <a:t>np.clip</a:t>
            </a:r>
            <a:r>
              <a:rPr lang="en-US" altLang="zh-CN" dirty="0"/>
              <a:t>()</a:t>
            </a:r>
            <a:r>
              <a:rPr lang="zh-CN" altLang="en-US" dirty="0"/>
              <a:t> </a:t>
            </a:r>
            <a:r>
              <a:rPr lang="en-US" altLang="zh-CN" dirty="0"/>
              <a:t>to</a:t>
            </a:r>
            <a:r>
              <a:rPr lang="zh-CN" altLang="en-US" dirty="0"/>
              <a:t> </a:t>
            </a:r>
            <a:r>
              <a:rPr lang="en-US" altLang="zh-CN" dirty="0"/>
              <a:t>make</a:t>
            </a:r>
            <a:r>
              <a:rPr lang="zh-CN" altLang="en-US" dirty="0"/>
              <a:t> </a:t>
            </a:r>
            <a:r>
              <a:rPr lang="en-US" altLang="zh-CN" dirty="0"/>
              <a:t>sure</a:t>
            </a:r>
            <a:r>
              <a:rPr lang="zh-CN" altLang="en-US" dirty="0"/>
              <a:t> </a:t>
            </a:r>
            <a:r>
              <a:rPr lang="en-US" altLang="zh-CN" dirty="0"/>
              <a:t>that</a:t>
            </a:r>
            <a:r>
              <a:rPr lang="zh-CN" altLang="en-US" dirty="0"/>
              <a:t> </a:t>
            </a:r>
            <a:r>
              <a:rPr lang="en-US" altLang="zh-CN" dirty="0"/>
              <a:t>the</a:t>
            </a:r>
            <a:r>
              <a:rPr lang="zh-CN" altLang="en-US" dirty="0"/>
              <a:t> </a:t>
            </a:r>
            <a:r>
              <a:rPr lang="en-US" altLang="zh-CN" dirty="0"/>
              <a:t>result’s</a:t>
            </a:r>
            <a:r>
              <a:rPr lang="zh-CN" altLang="en-US" dirty="0"/>
              <a:t> </a:t>
            </a:r>
            <a:r>
              <a:rPr lang="en-US" altLang="zh-CN" dirty="0"/>
              <a:t>pixel</a:t>
            </a:r>
            <a:r>
              <a:rPr lang="zh-CN" altLang="en-US" dirty="0"/>
              <a:t> </a:t>
            </a:r>
            <a:r>
              <a:rPr lang="en-US" altLang="zh-CN" dirty="0"/>
              <a:t>value</a:t>
            </a:r>
            <a:r>
              <a:rPr lang="zh-CN" altLang="en-US" dirty="0"/>
              <a:t> </a:t>
            </a:r>
            <a:r>
              <a:rPr lang="en-US" altLang="zh-CN" dirty="0"/>
              <a:t>is</a:t>
            </a:r>
            <a:r>
              <a:rPr lang="zh-CN" altLang="en-US" dirty="0"/>
              <a:t> </a:t>
            </a:r>
            <a:r>
              <a:rPr lang="en-US" altLang="zh-CN" dirty="0"/>
              <a:t>in</a:t>
            </a:r>
            <a:r>
              <a:rPr lang="zh-CN" altLang="en-US" dirty="0"/>
              <a:t> </a:t>
            </a:r>
            <a:r>
              <a:rPr lang="en-US" altLang="zh-CN" dirty="0"/>
              <a:t>the</a:t>
            </a:r>
            <a:r>
              <a:rPr lang="zh-CN" altLang="en-US" dirty="0"/>
              <a:t> </a:t>
            </a:r>
            <a:r>
              <a:rPr lang="en-US" altLang="zh-CN" dirty="0"/>
              <a:t>range</a:t>
            </a:r>
            <a:r>
              <a:rPr lang="zh-CN" altLang="en-US" dirty="0"/>
              <a:t> </a:t>
            </a:r>
            <a:r>
              <a:rPr lang="en-US" altLang="zh-CN" dirty="0"/>
              <a:t>(0,1)</a:t>
            </a:r>
            <a:endParaRPr lang="en-US"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Google Shape;134;p30"/>
          <p:cNvSpPr txBox="1">
            <a:spLocks noGrp="1"/>
          </p:cNvSpPr>
          <p:nvPr>
            <p:ph type="body" sz="half" idx="1"/>
          </p:nvPr>
        </p:nvSpPr>
        <p:spPr>
          <a:xfrm>
            <a:off x="311699" y="1152475"/>
            <a:ext cx="3999902" cy="3416400"/>
          </a:xfrm>
          <a:prstGeom prst="rect">
            <a:avLst/>
          </a:prstGeom>
        </p:spPr>
        <p:txBody>
          <a:bodyPr/>
          <a:lstStyle/>
          <a:p>
            <a:pPr marL="0" indent="0">
              <a:buSzTx/>
              <a:buNone/>
              <a:defRPr b="1"/>
            </a:pPr>
            <a:r>
              <a:rPr dirty="0"/>
              <a:t>Motorcycle + Bicycle</a:t>
            </a:r>
          </a:p>
          <a:p>
            <a:pPr marL="0" indent="0">
              <a:spcBef>
                <a:spcPts val="1600"/>
              </a:spcBef>
              <a:buSzTx/>
              <a:buNone/>
            </a:pPr>
            <a:endParaRPr dirty="0"/>
          </a:p>
          <a:p>
            <a:pPr marL="0" indent="0">
              <a:spcBef>
                <a:spcPts val="1600"/>
              </a:spcBef>
              <a:buSzTx/>
              <a:buNone/>
            </a:pPr>
            <a:endParaRPr dirty="0"/>
          </a:p>
          <a:p>
            <a:pPr marL="0" indent="0">
              <a:spcBef>
                <a:spcPts val="1600"/>
              </a:spcBef>
              <a:buSzTx/>
              <a:buNone/>
            </a:pPr>
            <a:endParaRPr lang="en-US" dirty="0"/>
          </a:p>
          <a:p>
            <a:pPr marL="0" indent="0">
              <a:spcBef>
                <a:spcPts val="1600"/>
              </a:spcBef>
              <a:buSzTx/>
              <a:buNone/>
            </a:pPr>
            <a:endParaRPr dirty="0"/>
          </a:p>
          <a:p>
            <a:pPr marL="0" indent="0">
              <a:spcBef>
                <a:spcPts val="1600"/>
              </a:spcBef>
              <a:buSzTx/>
              <a:buNone/>
            </a:pPr>
            <a:endParaRPr dirty="0"/>
          </a:p>
          <a:p>
            <a:pPr marL="0" indent="0">
              <a:spcBef>
                <a:spcPts val="1600"/>
              </a:spcBef>
              <a:buSzTx/>
              <a:buNone/>
            </a:pPr>
            <a:r>
              <a:rPr dirty="0"/>
              <a:t>Cutoff frequency: </a:t>
            </a:r>
            <a:r>
              <a:rPr lang="en-US" altLang="zh-CN" dirty="0"/>
              <a:t>3</a:t>
            </a:r>
            <a:endParaRPr dirty="0"/>
          </a:p>
        </p:txBody>
      </p:sp>
      <p:sp>
        <p:nvSpPr>
          <p:cNvPr id="226" name="Google Shape;135;p30"/>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rPr dirty="0"/>
              <a:t>Plane + Bird</a:t>
            </a:r>
          </a:p>
          <a:p>
            <a:pPr marL="0" indent="0">
              <a:spcBef>
                <a:spcPts val="1600"/>
              </a:spcBef>
              <a:buSzTx/>
              <a:buNone/>
              <a:defRPr sz="1400"/>
            </a:pPr>
            <a:r>
              <a:rPr dirty="0"/>
              <a:t>[insert your hybrid image here]</a:t>
            </a:r>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r>
              <a:rPr dirty="0"/>
              <a:t>Cutoff frequency</a:t>
            </a:r>
            <a:r>
              <a:rPr lang="en-US" altLang="zh-CN" dirty="0"/>
              <a:t>:2</a:t>
            </a:r>
            <a:endParaRPr dirty="0"/>
          </a:p>
        </p:txBody>
      </p:sp>
      <p:pic>
        <p:nvPicPr>
          <p:cNvPr id="2" name="Picture 1">
            <a:extLst>
              <a:ext uri="{FF2B5EF4-FFF2-40B4-BE49-F238E27FC236}">
                <a16:creationId xmlns:a16="http://schemas.microsoft.com/office/drawing/2014/main" id="{6423D103-B287-4E46-8355-44F8531CD606}"/>
              </a:ext>
            </a:extLst>
          </p:cNvPr>
          <p:cNvPicPr>
            <a:picLocks noChangeAspect="1"/>
          </p:cNvPicPr>
          <p:nvPr/>
        </p:nvPicPr>
        <p:blipFill>
          <a:blip r:embed="rId2"/>
          <a:stretch>
            <a:fillRect/>
          </a:stretch>
        </p:blipFill>
        <p:spPr>
          <a:xfrm>
            <a:off x="311699" y="1453293"/>
            <a:ext cx="3574462" cy="2434038"/>
          </a:xfrm>
          <a:prstGeom prst="rect">
            <a:avLst/>
          </a:prstGeom>
        </p:spPr>
      </p:pic>
      <p:pic>
        <p:nvPicPr>
          <p:cNvPr id="3" name="Picture 2">
            <a:extLst>
              <a:ext uri="{FF2B5EF4-FFF2-40B4-BE49-F238E27FC236}">
                <a16:creationId xmlns:a16="http://schemas.microsoft.com/office/drawing/2014/main" id="{573CDDAF-6BA4-824B-BB0F-070FCC2974D8}"/>
              </a:ext>
            </a:extLst>
          </p:cNvPr>
          <p:cNvPicPr>
            <a:picLocks noChangeAspect="1"/>
          </p:cNvPicPr>
          <p:nvPr/>
        </p:nvPicPr>
        <p:blipFill>
          <a:blip r:embed="rId3"/>
          <a:stretch>
            <a:fillRect/>
          </a:stretch>
        </p:blipFill>
        <p:spPr>
          <a:xfrm>
            <a:off x="4832398" y="1453293"/>
            <a:ext cx="2768831" cy="2434038"/>
          </a:xfrm>
          <a:prstGeom prst="rect">
            <a:avLst/>
          </a:prstGeom>
        </p:spPr>
      </p:pic>
      <p:sp>
        <p:nvSpPr>
          <p:cNvPr id="4" name="Title 3">
            <a:extLst>
              <a:ext uri="{FF2B5EF4-FFF2-40B4-BE49-F238E27FC236}">
                <a16:creationId xmlns:a16="http://schemas.microsoft.com/office/drawing/2014/main" id="{33A60E73-72FA-D14C-A2C4-269233466EB2}"/>
              </a:ext>
            </a:extLst>
          </p:cNvPr>
          <p:cNvSpPr>
            <a:spLocks noGrp="1"/>
          </p:cNvSpPr>
          <p:nvPr>
            <p:ph type="title"/>
          </p:nvPr>
        </p:nvSpPr>
        <p:spPr/>
        <p:txBody>
          <a:bodyPr>
            <a:normAutofit fontScale="90000"/>
          </a:bodyPr>
          <a:lstStyle/>
          <a:p>
            <a:r>
              <a:rPr lang="en" dirty="0"/>
              <a:t>Part 1: Hybrid images</a:t>
            </a:r>
            <a:endParaRPr lang="en-CN"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Google Shape;140;p31"/>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1: Hybrid images</a:t>
            </a:r>
          </a:p>
        </p:txBody>
      </p:sp>
      <p:sp>
        <p:nvSpPr>
          <p:cNvPr id="229" name="Google Shape;141;p31"/>
          <p:cNvSpPr txBox="1">
            <a:spLocks noGrp="1"/>
          </p:cNvSpPr>
          <p:nvPr>
            <p:ph type="body" sz="half" idx="1"/>
          </p:nvPr>
        </p:nvSpPr>
        <p:spPr>
          <a:xfrm>
            <a:off x="311699" y="1152475"/>
            <a:ext cx="3999902" cy="3824878"/>
          </a:xfrm>
          <a:prstGeom prst="rect">
            <a:avLst/>
          </a:prstGeom>
        </p:spPr>
        <p:txBody>
          <a:bodyPr>
            <a:normAutofit fontScale="92500" lnSpcReduction="10000"/>
          </a:bodyPr>
          <a:lstStyle/>
          <a:p>
            <a:pPr marL="0" indent="0">
              <a:buSzTx/>
              <a:buNone/>
              <a:defRPr b="1"/>
            </a:pPr>
            <a:r>
              <a:rPr dirty="0"/>
              <a:t>Einstein + Marilyn</a:t>
            </a:r>
          </a:p>
          <a:p>
            <a:pPr marL="0" indent="0">
              <a:spcBef>
                <a:spcPts val="1600"/>
              </a:spcBef>
              <a:buSzTx/>
              <a:buNone/>
            </a:pPr>
            <a:r>
              <a:rPr dirty="0"/>
              <a:t>[insert your hybrid image here]</a:t>
            </a:r>
          </a:p>
          <a:p>
            <a:pPr marL="0" indent="0">
              <a:spcBef>
                <a:spcPts val="1600"/>
              </a:spcBef>
              <a:buSzTx/>
              <a:buNone/>
            </a:pPr>
            <a:endParaRPr dirty="0"/>
          </a:p>
          <a:p>
            <a:pPr marL="0" indent="0">
              <a:spcBef>
                <a:spcPts val="1600"/>
              </a:spcBef>
              <a:buSzTx/>
              <a:buNone/>
            </a:pPr>
            <a:endParaRPr dirty="0"/>
          </a:p>
          <a:p>
            <a:pPr marL="0" indent="0">
              <a:spcBef>
                <a:spcPts val="1600"/>
              </a:spcBef>
              <a:buSzTx/>
              <a:buNone/>
            </a:pPr>
            <a:endParaRPr dirty="0"/>
          </a:p>
          <a:p>
            <a:pPr marL="0" indent="0">
              <a:spcBef>
                <a:spcPts val="1600"/>
              </a:spcBef>
              <a:buSzTx/>
              <a:buNone/>
            </a:pPr>
            <a:endParaRPr lang="en-US" dirty="0"/>
          </a:p>
          <a:p>
            <a:pPr marL="0" indent="0">
              <a:spcBef>
                <a:spcPts val="1600"/>
              </a:spcBef>
              <a:buSzTx/>
              <a:buNone/>
            </a:pPr>
            <a:endParaRPr lang="en-CN" dirty="0"/>
          </a:p>
          <a:p>
            <a:pPr marL="0" indent="0">
              <a:spcBef>
                <a:spcPts val="1600"/>
              </a:spcBef>
              <a:buSzTx/>
              <a:buNone/>
            </a:pPr>
            <a:endParaRPr dirty="0"/>
          </a:p>
          <a:p>
            <a:pPr marL="0" indent="0">
              <a:spcBef>
                <a:spcPts val="1600"/>
              </a:spcBef>
              <a:buSzTx/>
              <a:buNone/>
            </a:pPr>
            <a:r>
              <a:rPr dirty="0"/>
              <a:t>Cutoff frequency: </a:t>
            </a:r>
            <a:r>
              <a:rPr lang="en-US" altLang="zh-CN" dirty="0"/>
              <a:t>2</a:t>
            </a:r>
            <a:endParaRPr dirty="0"/>
          </a:p>
        </p:txBody>
      </p:sp>
      <p:sp>
        <p:nvSpPr>
          <p:cNvPr id="230" name="Google Shape;142;p31"/>
          <p:cNvSpPr txBox="1">
            <a:spLocks noGrp="1"/>
          </p:cNvSpPr>
          <p:nvPr>
            <p:ph type="body" idx="21"/>
          </p:nvPr>
        </p:nvSpPr>
        <p:spPr>
          <a:xfrm>
            <a:off x="4832399" y="1152475"/>
            <a:ext cx="3999902" cy="38248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rPr dirty="0"/>
              <a:t>Submarine + Fish</a:t>
            </a:r>
          </a:p>
          <a:p>
            <a:pPr marL="0" indent="0">
              <a:spcBef>
                <a:spcPts val="1600"/>
              </a:spcBef>
              <a:buSzTx/>
              <a:buNone/>
              <a:defRPr sz="1400"/>
            </a:pPr>
            <a:endParaRPr lang="en-US" dirty="0"/>
          </a:p>
          <a:p>
            <a:pPr marL="0" indent="0">
              <a:spcBef>
                <a:spcPts val="1600"/>
              </a:spcBef>
              <a:buSzTx/>
              <a:buNone/>
              <a:defRPr sz="1400"/>
            </a:pPr>
            <a:endParaRPr lang="en-US"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endParaRPr dirty="0"/>
          </a:p>
          <a:p>
            <a:pPr marL="0" indent="0">
              <a:spcBef>
                <a:spcPts val="1600"/>
              </a:spcBef>
              <a:buSzTx/>
              <a:buNone/>
              <a:defRPr sz="1400"/>
            </a:pPr>
            <a:r>
              <a:rPr dirty="0"/>
              <a:t>Cutoff frequency: </a:t>
            </a:r>
            <a:r>
              <a:rPr lang="en-US" altLang="zh-CN" dirty="0"/>
              <a:t>3</a:t>
            </a:r>
            <a:endParaRPr dirty="0"/>
          </a:p>
        </p:txBody>
      </p:sp>
      <p:pic>
        <p:nvPicPr>
          <p:cNvPr id="5" name="Picture 4" descr="A picture containing text, person, indoor, posing&#10;&#10;Description automatically generated">
            <a:extLst>
              <a:ext uri="{FF2B5EF4-FFF2-40B4-BE49-F238E27FC236}">
                <a16:creationId xmlns:a16="http://schemas.microsoft.com/office/drawing/2014/main" id="{05B6F9C9-064F-1C47-B8E4-596EB61EAFCD}"/>
              </a:ext>
            </a:extLst>
          </p:cNvPr>
          <p:cNvPicPr>
            <a:picLocks noChangeAspect="1"/>
          </p:cNvPicPr>
          <p:nvPr/>
        </p:nvPicPr>
        <p:blipFill>
          <a:blip r:embed="rId2"/>
          <a:stretch>
            <a:fillRect/>
          </a:stretch>
        </p:blipFill>
        <p:spPr>
          <a:xfrm>
            <a:off x="311699" y="1570566"/>
            <a:ext cx="2469208" cy="2908179"/>
          </a:xfrm>
          <a:prstGeom prst="rect">
            <a:avLst/>
          </a:prstGeom>
        </p:spPr>
      </p:pic>
      <p:pic>
        <p:nvPicPr>
          <p:cNvPr id="6" name="Picture 5" descr="A picture containing water, fish&#10;&#10;Description automatically generated">
            <a:extLst>
              <a:ext uri="{FF2B5EF4-FFF2-40B4-BE49-F238E27FC236}">
                <a16:creationId xmlns:a16="http://schemas.microsoft.com/office/drawing/2014/main" id="{FDB5C2BA-BBDA-C040-93EC-A7830D66F65A}"/>
              </a:ext>
            </a:extLst>
          </p:cNvPr>
          <p:cNvPicPr>
            <a:picLocks noChangeAspect="1"/>
          </p:cNvPicPr>
          <p:nvPr/>
        </p:nvPicPr>
        <p:blipFill>
          <a:blip r:embed="rId3"/>
          <a:stretch>
            <a:fillRect/>
          </a:stretch>
        </p:blipFill>
        <p:spPr>
          <a:xfrm>
            <a:off x="4942341" y="1570566"/>
            <a:ext cx="3151732" cy="2580218"/>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Google Shape;147;p32"/>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2: Hybrid images with PyTorch</a:t>
            </a:r>
          </a:p>
        </p:txBody>
      </p:sp>
      <p:sp>
        <p:nvSpPr>
          <p:cNvPr id="233" name="Google Shape;148;p32"/>
          <p:cNvSpPr txBox="1">
            <a:spLocks noGrp="1"/>
          </p:cNvSpPr>
          <p:nvPr>
            <p:ph type="body" sz="half" idx="1"/>
          </p:nvPr>
        </p:nvSpPr>
        <p:spPr>
          <a:xfrm>
            <a:off x="311699" y="1152475"/>
            <a:ext cx="3999902" cy="3416400"/>
          </a:xfrm>
          <a:prstGeom prst="rect">
            <a:avLst/>
          </a:prstGeom>
        </p:spPr>
        <p:txBody>
          <a:bodyPr/>
          <a:lstStyle/>
          <a:p>
            <a:pPr marL="0" indent="0">
              <a:buSzTx/>
              <a:buNone/>
              <a:defRPr b="1"/>
            </a:pPr>
            <a:r>
              <a:t>Cat + Dog</a:t>
            </a:r>
          </a:p>
          <a:p>
            <a:pPr marL="0" indent="0">
              <a:spcBef>
                <a:spcPts val="1600"/>
              </a:spcBef>
              <a:buSzTx/>
              <a:buNone/>
            </a:pPr>
            <a:r>
              <a:t>[insert your hybrid image here]</a:t>
            </a:r>
          </a:p>
        </p:txBody>
      </p:sp>
      <p:sp>
        <p:nvSpPr>
          <p:cNvPr id="234" name="Google Shape;149;p32"/>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t>Motorcycle + Bicycle</a:t>
            </a:r>
          </a:p>
          <a:p>
            <a:pPr marL="0" indent="0">
              <a:spcBef>
                <a:spcPts val="1600"/>
              </a:spcBef>
              <a:buSzTx/>
              <a:buNone/>
              <a:defRPr sz="1400"/>
            </a:pPr>
            <a:r>
              <a:t>[insert your hybrid image here]</a:t>
            </a:r>
          </a:p>
        </p:txBody>
      </p:sp>
      <p:pic>
        <p:nvPicPr>
          <p:cNvPr id="2" name="Picture 1">
            <a:extLst>
              <a:ext uri="{FF2B5EF4-FFF2-40B4-BE49-F238E27FC236}">
                <a16:creationId xmlns:a16="http://schemas.microsoft.com/office/drawing/2014/main" id="{04AA13C2-3491-E644-A5ED-4BCD75B6770F}"/>
              </a:ext>
            </a:extLst>
          </p:cNvPr>
          <p:cNvPicPr>
            <a:picLocks noChangeAspect="1"/>
          </p:cNvPicPr>
          <p:nvPr/>
        </p:nvPicPr>
        <p:blipFill>
          <a:blip r:embed="rId2"/>
          <a:stretch>
            <a:fillRect/>
          </a:stretch>
        </p:blipFill>
        <p:spPr>
          <a:xfrm>
            <a:off x="311699" y="1586622"/>
            <a:ext cx="3703818" cy="3255219"/>
          </a:xfrm>
          <a:prstGeom prst="rect">
            <a:avLst/>
          </a:prstGeom>
        </p:spPr>
      </p:pic>
      <p:pic>
        <p:nvPicPr>
          <p:cNvPr id="3" name="Picture 2">
            <a:extLst>
              <a:ext uri="{FF2B5EF4-FFF2-40B4-BE49-F238E27FC236}">
                <a16:creationId xmlns:a16="http://schemas.microsoft.com/office/drawing/2014/main" id="{3E3A1322-41A7-4848-8620-C9545A0511FB}"/>
              </a:ext>
            </a:extLst>
          </p:cNvPr>
          <p:cNvPicPr>
            <a:picLocks noChangeAspect="1"/>
          </p:cNvPicPr>
          <p:nvPr/>
        </p:nvPicPr>
        <p:blipFill>
          <a:blip r:embed="rId3"/>
          <a:stretch>
            <a:fillRect/>
          </a:stretch>
        </p:blipFill>
        <p:spPr>
          <a:xfrm>
            <a:off x="4423138" y="1611962"/>
            <a:ext cx="4546532" cy="2956913"/>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Google Shape;154;p33"/>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2: Hybrid images with PyTorch</a:t>
            </a:r>
          </a:p>
        </p:txBody>
      </p:sp>
      <p:sp>
        <p:nvSpPr>
          <p:cNvPr id="237" name="Google Shape;155;p33"/>
          <p:cNvSpPr txBox="1">
            <a:spLocks noGrp="1"/>
          </p:cNvSpPr>
          <p:nvPr>
            <p:ph type="body" sz="half" idx="1"/>
          </p:nvPr>
        </p:nvSpPr>
        <p:spPr>
          <a:xfrm>
            <a:off x="311699" y="1152475"/>
            <a:ext cx="3999902" cy="3416400"/>
          </a:xfrm>
          <a:prstGeom prst="rect">
            <a:avLst/>
          </a:prstGeom>
        </p:spPr>
        <p:txBody>
          <a:bodyPr/>
          <a:lstStyle/>
          <a:p>
            <a:pPr marL="0" indent="0">
              <a:buSzTx/>
              <a:buNone/>
              <a:defRPr b="1"/>
            </a:pPr>
            <a:r>
              <a:t>Plane + Bird</a:t>
            </a:r>
          </a:p>
          <a:p>
            <a:pPr marL="0" indent="0">
              <a:spcBef>
                <a:spcPts val="1600"/>
              </a:spcBef>
              <a:buSzTx/>
              <a:buNone/>
            </a:pPr>
            <a:r>
              <a:t>[insert your hybrid image here]</a:t>
            </a:r>
          </a:p>
        </p:txBody>
      </p:sp>
      <p:sp>
        <p:nvSpPr>
          <p:cNvPr id="238" name="Google Shape;156;p33"/>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t>Einstein + Marilyn</a:t>
            </a:r>
          </a:p>
          <a:p>
            <a:pPr marL="0" indent="0">
              <a:spcBef>
                <a:spcPts val="1600"/>
              </a:spcBef>
              <a:buSzTx/>
              <a:buNone/>
              <a:defRPr sz="1400"/>
            </a:pPr>
            <a:r>
              <a:t>[insert your hybrid image here]</a:t>
            </a:r>
          </a:p>
        </p:txBody>
      </p:sp>
      <p:pic>
        <p:nvPicPr>
          <p:cNvPr id="2" name="Picture 1">
            <a:extLst>
              <a:ext uri="{FF2B5EF4-FFF2-40B4-BE49-F238E27FC236}">
                <a16:creationId xmlns:a16="http://schemas.microsoft.com/office/drawing/2014/main" id="{37C37229-47DE-A448-9CFE-F0BD297F8F80}"/>
              </a:ext>
            </a:extLst>
          </p:cNvPr>
          <p:cNvPicPr>
            <a:picLocks noChangeAspect="1"/>
          </p:cNvPicPr>
          <p:nvPr/>
        </p:nvPicPr>
        <p:blipFill>
          <a:blip r:embed="rId2"/>
          <a:stretch>
            <a:fillRect/>
          </a:stretch>
        </p:blipFill>
        <p:spPr>
          <a:xfrm>
            <a:off x="311699" y="1598336"/>
            <a:ext cx="3541550" cy="3100139"/>
          </a:xfrm>
          <a:prstGeom prst="rect">
            <a:avLst/>
          </a:prstGeom>
        </p:spPr>
      </p:pic>
      <p:pic>
        <p:nvPicPr>
          <p:cNvPr id="3" name="Picture 2">
            <a:extLst>
              <a:ext uri="{FF2B5EF4-FFF2-40B4-BE49-F238E27FC236}">
                <a16:creationId xmlns:a16="http://schemas.microsoft.com/office/drawing/2014/main" id="{49E41DA1-1E49-BB4B-9613-3A8E5810D9E4}"/>
              </a:ext>
            </a:extLst>
          </p:cNvPr>
          <p:cNvPicPr>
            <a:picLocks noChangeAspect="1"/>
          </p:cNvPicPr>
          <p:nvPr/>
        </p:nvPicPr>
        <p:blipFill>
          <a:blip r:embed="rId3"/>
          <a:stretch>
            <a:fillRect/>
          </a:stretch>
        </p:blipFill>
        <p:spPr>
          <a:xfrm>
            <a:off x="4942746" y="1598335"/>
            <a:ext cx="2559811" cy="3014889"/>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161;p34"/>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Part 2: Hybrid images with PyTorch</a:t>
            </a:r>
          </a:p>
        </p:txBody>
      </p:sp>
      <p:sp>
        <p:nvSpPr>
          <p:cNvPr id="241" name="Google Shape;162;p34"/>
          <p:cNvSpPr txBox="1">
            <a:spLocks noGrp="1"/>
          </p:cNvSpPr>
          <p:nvPr>
            <p:ph type="body" sz="half" idx="1"/>
          </p:nvPr>
        </p:nvSpPr>
        <p:spPr>
          <a:xfrm>
            <a:off x="311699" y="1152475"/>
            <a:ext cx="3999902" cy="3416400"/>
          </a:xfrm>
          <a:prstGeom prst="rect">
            <a:avLst/>
          </a:prstGeom>
        </p:spPr>
        <p:txBody>
          <a:bodyPr/>
          <a:lstStyle/>
          <a:p>
            <a:pPr marL="0" indent="0">
              <a:buSzTx/>
              <a:buNone/>
              <a:defRPr b="1"/>
            </a:pPr>
            <a:r>
              <a:t>Submarine + Fish</a:t>
            </a:r>
          </a:p>
          <a:p>
            <a:pPr marL="0" indent="0">
              <a:spcBef>
                <a:spcPts val="1600"/>
              </a:spcBef>
              <a:buSzTx/>
              <a:buNone/>
            </a:pPr>
            <a:r>
              <a:t>[insert your hybrid image here]</a:t>
            </a:r>
          </a:p>
        </p:txBody>
      </p:sp>
      <p:sp>
        <p:nvSpPr>
          <p:cNvPr id="242" name="Google Shape;163;p34"/>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b="1"/>
            </a:pPr>
            <a:r>
              <a:rPr dirty="0"/>
              <a:t>Part 1 vs. Part 2</a:t>
            </a:r>
          </a:p>
          <a:p>
            <a:pPr marL="0" indent="0">
              <a:spcBef>
                <a:spcPts val="1600"/>
              </a:spcBef>
              <a:buSzTx/>
              <a:buNone/>
              <a:defRPr sz="1400"/>
            </a:pPr>
            <a:r>
              <a:rPr dirty="0"/>
              <a:t>[Compare the run-times of Parts 1 and 2 here, as calculated in project-1.ipynb. Which method is faster?]</a:t>
            </a:r>
            <a:endParaRPr lang="en-US" dirty="0"/>
          </a:p>
          <a:p>
            <a:pPr marL="0" indent="0">
              <a:spcBef>
                <a:spcPts val="1600"/>
              </a:spcBef>
              <a:buSzTx/>
              <a:buNone/>
              <a:defRPr sz="1400"/>
            </a:pPr>
            <a:r>
              <a:rPr lang="en-US" dirty="0"/>
              <a:t>Part 1: 5.015 seconds</a:t>
            </a:r>
          </a:p>
          <a:p>
            <a:pPr marL="0" indent="0">
              <a:spcBef>
                <a:spcPts val="1600"/>
              </a:spcBef>
              <a:buSzTx/>
              <a:buNone/>
              <a:defRPr sz="1400"/>
            </a:pPr>
            <a:r>
              <a:rPr lang="en-US" dirty="0"/>
              <a:t>Part 2: 0.930 seconds</a:t>
            </a:r>
          </a:p>
          <a:p>
            <a:pPr marL="0" indent="0">
              <a:spcBef>
                <a:spcPts val="1600"/>
              </a:spcBef>
              <a:buSzTx/>
              <a:buNone/>
              <a:defRPr sz="1400"/>
            </a:pPr>
            <a:endParaRPr lang="en-US" dirty="0"/>
          </a:p>
          <a:p>
            <a:pPr marL="0" indent="0">
              <a:spcBef>
                <a:spcPts val="1600"/>
              </a:spcBef>
              <a:buSzTx/>
              <a:buNone/>
              <a:defRPr sz="1400"/>
            </a:pPr>
            <a:r>
              <a:rPr lang="en-US" altLang="zh-CN" dirty="0"/>
              <a:t>Method</a:t>
            </a:r>
            <a:r>
              <a:rPr lang="zh-CN" altLang="en-US" dirty="0"/>
              <a:t> </a:t>
            </a:r>
            <a:r>
              <a:rPr lang="en-US" altLang="zh-CN" dirty="0"/>
              <a:t>2</a:t>
            </a:r>
            <a:r>
              <a:rPr lang="zh-CN" altLang="en-US" dirty="0"/>
              <a:t> </a:t>
            </a:r>
            <a:r>
              <a:rPr lang="en-US" altLang="zh-CN" dirty="0"/>
              <a:t>(using</a:t>
            </a:r>
            <a:r>
              <a:rPr lang="zh-CN" altLang="en-US" dirty="0"/>
              <a:t> </a:t>
            </a:r>
            <a:r>
              <a:rPr lang="en-US" altLang="zh-CN" dirty="0" err="1"/>
              <a:t>PyTorch</a:t>
            </a:r>
            <a:r>
              <a:rPr lang="en-US" altLang="zh-CN" dirty="0"/>
              <a:t>)</a:t>
            </a:r>
            <a:r>
              <a:rPr lang="zh-CN" altLang="en-US" dirty="0"/>
              <a:t> </a:t>
            </a:r>
            <a:r>
              <a:rPr lang="en-US" altLang="zh-CN" dirty="0"/>
              <a:t>is</a:t>
            </a:r>
            <a:r>
              <a:rPr lang="zh-CN" altLang="en-US" dirty="0"/>
              <a:t> </a:t>
            </a:r>
            <a:r>
              <a:rPr lang="en-US" altLang="zh-CN" dirty="0"/>
              <a:t>faster.</a:t>
            </a:r>
            <a:endParaRPr dirty="0"/>
          </a:p>
        </p:txBody>
      </p:sp>
      <p:pic>
        <p:nvPicPr>
          <p:cNvPr id="2" name="Picture 1">
            <a:extLst>
              <a:ext uri="{FF2B5EF4-FFF2-40B4-BE49-F238E27FC236}">
                <a16:creationId xmlns:a16="http://schemas.microsoft.com/office/drawing/2014/main" id="{4CED8A1A-FDEA-CC45-BB76-2C87325C5222}"/>
              </a:ext>
            </a:extLst>
          </p:cNvPr>
          <p:cNvPicPr>
            <a:picLocks noChangeAspect="1"/>
          </p:cNvPicPr>
          <p:nvPr/>
        </p:nvPicPr>
        <p:blipFill>
          <a:blip r:embed="rId2"/>
          <a:stretch>
            <a:fillRect/>
          </a:stretch>
        </p:blipFill>
        <p:spPr>
          <a:xfrm>
            <a:off x="311699" y="1586531"/>
            <a:ext cx="3887444" cy="3111944"/>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 3</a:t>
            </a:r>
            <a:r>
              <a:rPr lang="en-US" dirty="0"/>
              <a:t>: Understanding input/output shapes in PyTorch</a:t>
            </a:r>
            <a:endParaRPr dirty="0"/>
          </a:p>
        </p:txBody>
      </p:sp>
      <p:sp>
        <p:nvSpPr>
          <p:cNvPr id="245" name="Google Shape;169;p35"/>
          <p:cNvSpPr txBox="1">
            <a:spLocks noGrp="1"/>
          </p:cNvSpPr>
          <p:nvPr>
            <p:ph type="body" sz="half" idx="1"/>
          </p:nvPr>
        </p:nvSpPr>
        <p:spPr>
          <a:xfrm>
            <a:off x="311699" y="1152475"/>
            <a:ext cx="3999902" cy="3416400"/>
          </a:xfrm>
          <a:prstGeom prst="rect">
            <a:avLst/>
          </a:prstGeom>
        </p:spPr>
        <p:txBody>
          <a:bodyPr/>
          <a:lstStyle/>
          <a:p>
            <a:pPr marL="0" indent="0">
              <a:buSzTx/>
              <a:buNone/>
            </a:pPr>
            <a:r>
              <a:rPr dirty="0"/>
              <a:t>[Consider a 1-channel 5x5 image and a 3x3 filter. What are the output dimensions of a convolution with the following parameters?</a:t>
            </a:r>
          </a:p>
          <a:p>
            <a:pPr marL="0" indent="0">
              <a:buSzTx/>
              <a:buNone/>
            </a:pPr>
            <a:r>
              <a:rPr dirty="0"/>
              <a:t>Stride = 1, padding = 0?</a:t>
            </a:r>
            <a:r>
              <a:rPr lang="zh-CN" altLang="en-US" dirty="0"/>
              <a:t> </a:t>
            </a:r>
            <a:endParaRPr lang="en-US" altLang="zh-CN" dirty="0"/>
          </a:p>
          <a:p>
            <a:pPr marL="0" indent="0">
              <a:buSzTx/>
              <a:buNone/>
            </a:pPr>
            <a:r>
              <a:rPr lang="en-US" altLang="zh-CN" dirty="0">
                <a:solidFill>
                  <a:schemeClr val="tx1"/>
                </a:solidFill>
              </a:rPr>
              <a:t>3x3</a:t>
            </a:r>
            <a:endParaRPr dirty="0">
              <a:solidFill>
                <a:schemeClr val="tx1"/>
              </a:solidFill>
            </a:endParaRPr>
          </a:p>
          <a:p>
            <a:pPr marL="0" indent="0">
              <a:buSzTx/>
              <a:buNone/>
            </a:pPr>
            <a:r>
              <a:rPr dirty="0"/>
              <a:t>Stride = 2, padding = 0?</a:t>
            </a:r>
            <a:r>
              <a:rPr lang="zh-CN" altLang="en-US" dirty="0"/>
              <a:t> </a:t>
            </a:r>
            <a:endParaRPr lang="en-US" altLang="zh-CN" dirty="0"/>
          </a:p>
          <a:p>
            <a:pPr marL="0" indent="0">
              <a:buSzTx/>
              <a:buNone/>
            </a:pPr>
            <a:r>
              <a:rPr lang="en-US" altLang="zh-CN" dirty="0">
                <a:solidFill>
                  <a:schemeClr val="tx1"/>
                </a:solidFill>
              </a:rPr>
              <a:t>2x2</a:t>
            </a:r>
            <a:endParaRPr dirty="0">
              <a:solidFill>
                <a:schemeClr val="tx1"/>
              </a:solidFill>
            </a:endParaRPr>
          </a:p>
          <a:p>
            <a:pPr marL="0" indent="0">
              <a:buSzTx/>
              <a:buNone/>
            </a:pPr>
            <a:r>
              <a:rPr dirty="0"/>
              <a:t>Stride = 1, padding = 1?</a:t>
            </a:r>
            <a:r>
              <a:rPr lang="zh-CN" altLang="en-US" dirty="0"/>
              <a:t> </a:t>
            </a:r>
            <a:endParaRPr lang="en-US" altLang="zh-CN" dirty="0"/>
          </a:p>
          <a:p>
            <a:pPr marL="0" indent="0">
              <a:buSzTx/>
              <a:buNone/>
            </a:pPr>
            <a:r>
              <a:rPr lang="en-US" altLang="zh-CN" dirty="0">
                <a:solidFill>
                  <a:schemeClr val="tx1"/>
                </a:solidFill>
              </a:rPr>
              <a:t>5x5</a:t>
            </a:r>
            <a:endParaRPr dirty="0">
              <a:solidFill>
                <a:schemeClr val="tx1"/>
              </a:solidFill>
            </a:endParaRPr>
          </a:p>
          <a:p>
            <a:pPr marL="0" indent="0">
              <a:buSzTx/>
              <a:buNone/>
            </a:pPr>
            <a:r>
              <a:rPr dirty="0"/>
              <a:t>Stride = 2, padding = 1?]</a:t>
            </a:r>
            <a:endParaRPr lang="en-US" dirty="0"/>
          </a:p>
          <a:p>
            <a:pPr marL="0" indent="0">
              <a:buSzTx/>
              <a:buNone/>
            </a:pPr>
            <a:r>
              <a:rPr lang="en-US" altLang="zh-CN" dirty="0">
                <a:solidFill>
                  <a:schemeClr val="tx1"/>
                </a:solidFill>
              </a:rPr>
              <a:t>3x3</a:t>
            </a:r>
            <a:r>
              <a:rPr lang="zh-CN" altLang="en-US" dirty="0"/>
              <a:t> </a:t>
            </a:r>
            <a:endParaRPr dirty="0"/>
          </a:p>
        </p:txBody>
      </p:sp>
      <p:sp>
        <p:nvSpPr>
          <p:cNvPr id="246" name="Google Shape;170;p35"/>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a:pPr>
            <a:r>
              <a:rPr dirty="0"/>
              <a:t>[What are the input &amp; output dimensions of the convolutions of the dog image and a 3x3 filter  with the following parameters: </a:t>
            </a:r>
            <a:endParaRPr lang="en-US" dirty="0"/>
          </a:p>
          <a:p>
            <a:pPr marL="0" indent="0">
              <a:buSzTx/>
              <a:buNone/>
              <a:defRPr sz="1400"/>
            </a:pPr>
            <a:r>
              <a:rPr lang="en-US" altLang="zh-CN" dirty="0">
                <a:solidFill>
                  <a:schemeClr val="tx1"/>
                </a:solidFill>
              </a:rPr>
              <a:t>Dog</a:t>
            </a:r>
            <a:r>
              <a:rPr lang="zh-CN" altLang="en-US" dirty="0">
                <a:solidFill>
                  <a:schemeClr val="tx1"/>
                </a:solidFill>
              </a:rPr>
              <a:t> </a:t>
            </a:r>
            <a:r>
              <a:rPr lang="en-US" altLang="zh-CN" dirty="0">
                <a:solidFill>
                  <a:schemeClr val="tx1"/>
                </a:solidFill>
              </a:rPr>
              <a:t>image:</a:t>
            </a:r>
            <a:r>
              <a:rPr lang="zh-CN" altLang="en-US" dirty="0">
                <a:solidFill>
                  <a:schemeClr val="tx1"/>
                </a:solidFill>
              </a:rPr>
              <a:t> </a:t>
            </a:r>
            <a:r>
              <a:rPr lang="en-US" altLang="zh-CN" dirty="0">
                <a:solidFill>
                  <a:schemeClr val="tx1"/>
                </a:solidFill>
              </a:rPr>
              <a:t>(3,</a:t>
            </a:r>
            <a:r>
              <a:rPr lang="zh-CN" altLang="en-US" dirty="0">
                <a:solidFill>
                  <a:schemeClr val="tx1"/>
                </a:solidFill>
              </a:rPr>
              <a:t> </a:t>
            </a:r>
            <a:r>
              <a:rPr lang="en-US" altLang="zh-CN" dirty="0">
                <a:solidFill>
                  <a:schemeClr val="tx1"/>
                </a:solidFill>
              </a:rPr>
              <a:t>361,</a:t>
            </a:r>
            <a:r>
              <a:rPr lang="zh-CN" altLang="en-US" dirty="0">
                <a:solidFill>
                  <a:schemeClr val="tx1"/>
                </a:solidFill>
              </a:rPr>
              <a:t> </a:t>
            </a:r>
            <a:r>
              <a:rPr lang="en-US" altLang="zh-CN" dirty="0">
                <a:solidFill>
                  <a:schemeClr val="tx1"/>
                </a:solidFill>
              </a:rPr>
              <a:t>160)</a:t>
            </a:r>
            <a:endParaRPr dirty="0">
              <a:solidFill>
                <a:schemeClr val="tx1"/>
              </a:solidFill>
            </a:endParaRPr>
          </a:p>
          <a:p>
            <a:pPr marL="0" indent="0">
              <a:buSzTx/>
              <a:buNone/>
              <a:defRPr sz="1400"/>
            </a:pPr>
            <a:r>
              <a:rPr dirty="0"/>
              <a:t>Stride = 1, padding = 0</a:t>
            </a:r>
            <a:endParaRPr lang="en-US" dirty="0"/>
          </a:p>
          <a:p>
            <a:pPr marL="0" indent="0">
              <a:buSzTx/>
              <a:buNone/>
              <a:defRPr sz="1400"/>
            </a:pPr>
            <a:r>
              <a:rPr lang="en-CN" dirty="0">
                <a:solidFill>
                  <a:schemeClr val="tx1"/>
                </a:solidFill>
              </a:rPr>
              <a:t>(3, 359, 408)</a:t>
            </a:r>
            <a:endParaRPr dirty="0"/>
          </a:p>
          <a:p>
            <a:pPr marL="0" indent="0">
              <a:buSzTx/>
              <a:buNone/>
              <a:defRPr sz="1400"/>
            </a:pPr>
            <a:r>
              <a:rPr dirty="0"/>
              <a:t>Stride = 2, padding = 0</a:t>
            </a:r>
            <a:endParaRPr lang="en-US" dirty="0"/>
          </a:p>
          <a:p>
            <a:pPr marL="0" indent="0">
              <a:buSzTx/>
              <a:buNone/>
              <a:defRPr sz="1400"/>
            </a:pPr>
            <a:r>
              <a:rPr lang="en-US" dirty="0">
                <a:solidFill>
                  <a:schemeClr val="tx1"/>
                </a:solidFill>
              </a:rPr>
              <a:t>(3, 180, 204)</a:t>
            </a:r>
            <a:endParaRPr dirty="0">
              <a:solidFill>
                <a:schemeClr val="tx1"/>
              </a:solidFill>
            </a:endParaRPr>
          </a:p>
          <a:p>
            <a:pPr marL="0" indent="0">
              <a:buSzTx/>
              <a:buNone/>
              <a:defRPr sz="1400"/>
            </a:pPr>
            <a:r>
              <a:rPr dirty="0"/>
              <a:t>Stride = 1, padding = 1</a:t>
            </a:r>
            <a:endParaRPr lang="en-US" dirty="0"/>
          </a:p>
          <a:p>
            <a:pPr marL="0" indent="0">
              <a:buSzTx/>
              <a:buNone/>
              <a:defRPr sz="1400"/>
            </a:pPr>
            <a:r>
              <a:rPr lang="en-US" dirty="0">
                <a:solidFill>
                  <a:schemeClr val="tx1"/>
                </a:solidFill>
              </a:rPr>
              <a:t>(3, 361, 410)</a:t>
            </a:r>
            <a:endParaRPr b="1" dirty="0">
              <a:solidFill>
                <a:schemeClr val="tx1"/>
              </a:solidFill>
            </a:endParaRPr>
          </a:p>
          <a:p>
            <a:pPr marL="0" indent="0">
              <a:buSzTx/>
              <a:buNone/>
              <a:defRPr sz="1400"/>
            </a:pPr>
            <a:r>
              <a:rPr dirty="0"/>
              <a:t>Stride = 2, padding = 1?]</a:t>
            </a:r>
            <a:endParaRPr lang="en-US" dirty="0"/>
          </a:p>
          <a:p>
            <a:pPr marL="0" indent="0">
              <a:buSzTx/>
              <a:buNone/>
              <a:defRPr sz="1400"/>
            </a:pPr>
            <a:r>
              <a:rPr lang="en-US" dirty="0">
                <a:solidFill>
                  <a:schemeClr val="tx1"/>
                </a:solidFill>
              </a:rPr>
              <a:t>(3, 181, 205)</a:t>
            </a:r>
            <a:endParaRPr lang="en" dirty="0">
              <a:solidFill>
                <a:schemeClr val="tx1"/>
              </a:solidFill>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Google Shape;182;p37"/>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 3</a:t>
            </a:r>
            <a:r>
              <a:rPr lang="en-US" dirty="0"/>
              <a:t>: Understanding input/output shapes in PyTorch</a:t>
            </a:r>
            <a:endParaRPr dirty="0"/>
          </a:p>
        </p:txBody>
      </p:sp>
      <p:sp>
        <p:nvSpPr>
          <p:cNvPr id="253" name="Google Shape;183;p37"/>
          <p:cNvSpPr txBox="1">
            <a:spLocks noGrp="1"/>
          </p:cNvSpPr>
          <p:nvPr>
            <p:ph type="body" sz="half" idx="1"/>
          </p:nvPr>
        </p:nvSpPr>
        <p:spPr>
          <a:xfrm>
            <a:off x="4486415" y="1152475"/>
            <a:ext cx="4144079" cy="3416400"/>
          </a:xfrm>
          <a:prstGeom prst="rect">
            <a:avLst/>
          </a:prstGeom>
        </p:spPr>
        <p:txBody>
          <a:bodyPr>
            <a:normAutofit fontScale="92500" lnSpcReduction="20000"/>
          </a:bodyPr>
          <a:lstStyle>
            <a:lvl1pPr marL="0" indent="0">
              <a:buSzTx/>
              <a:buNone/>
            </a:lvl1pPr>
          </a:lstStyle>
          <a:p>
            <a:r>
              <a:rPr lang="en-US" dirty="0"/>
              <a:t>[Section 3 of the handout gives equations to calculate output dimensions given filter size, stride, and padding. What is the intuition behind this equation?]</a:t>
            </a:r>
          </a:p>
          <a:p>
            <a:endParaRPr lang="en-US" dirty="0"/>
          </a:p>
          <a:p>
            <a:r>
              <a:rPr lang="en-US" dirty="0">
                <a:solidFill>
                  <a:schemeClr val="tx1"/>
                </a:solidFill>
              </a:rPr>
              <a:t>This equation is </a:t>
            </a:r>
            <a:r>
              <a:rPr lang="en-US" altLang="zh-CN" dirty="0">
                <a:solidFill>
                  <a:schemeClr val="tx1"/>
                </a:solidFill>
              </a:rPr>
              <a:t>to</a:t>
            </a:r>
            <a:r>
              <a:rPr lang="zh-CN" altLang="en-US" dirty="0">
                <a:solidFill>
                  <a:schemeClr val="tx1"/>
                </a:solidFill>
              </a:rPr>
              <a:t> </a:t>
            </a:r>
            <a:r>
              <a:rPr lang="en-US" altLang="zh-CN" dirty="0">
                <a:solidFill>
                  <a:schemeClr val="tx1"/>
                </a:solidFill>
              </a:rPr>
              <a:t>help</a:t>
            </a:r>
            <a:r>
              <a:rPr lang="zh-CN" altLang="en-US" dirty="0">
                <a:solidFill>
                  <a:schemeClr val="tx1"/>
                </a:solidFill>
              </a:rPr>
              <a:t> </a:t>
            </a:r>
            <a:r>
              <a:rPr lang="en-US" altLang="zh-CN" dirty="0">
                <a:solidFill>
                  <a:schemeClr val="tx1"/>
                </a:solidFill>
              </a:rPr>
              <a:t>us</a:t>
            </a:r>
            <a:r>
              <a:rPr lang="en-US" dirty="0">
                <a:solidFill>
                  <a:schemeClr val="tx1"/>
                </a:solidFill>
              </a:rPr>
              <a:t> calculate the </a:t>
            </a:r>
            <a:r>
              <a:rPr lang="en-US" altLang="zh-CN" dirty="0">
                <a:solidFill>
                  <a:schemeClr val="tx1"/>
                </a:solidFill>
              </a:rPr>
              <a:t>height,</a:t>
            </a:r>
            <a:r>
              <a:rPr lang="zh-CN" altLang="en-US" dirty="0">
                <a:solidFill>
                  <a:schemeClr val="tx1"/>
                </a:solidFill>
              </a:rPr>
              <a:t> </a:t>
            </a:r>
            <a:r>
              <a:rPr lang="en-US" altLang="zh-CN" dirty="0">
                <a:solidFill>
                  <a:schemeClr val="tx1"/>
                </a:solidFill>
              </a:rPr>
              <a:t>weight</a:t>
            </a:r>
            <a:r>
              <a:rPr lang="zh-CN" altLang="en-US" dirty="0">
                <a:solidFill>
                  <a:schemeClr val="tx1"/>
                </a:solidFill>
              </a:rPr>
              <a:t> </a:t>
            </a:r>
            <a:r>
              <a:rPr lang="en-US" altLang="zh-CN" dirty="0">
                <a:solidFill>
                  <a:schemeClr val="tx1"/>
                </a:solidFill>
              </a:rPr>
              <a:t>(w2</a:t>
            </a:r>
            <a:r>
              <a:rPr lang="zh-CN" altLang="en-US" dirty="0">
                <a:solidFill>
                  <a:schemeClr val="tx1"/>
                </a:solidFill>
              </a:rPr>
              <a:t> </a:t>
            </a:r>
            <a:r>
              <a:rPr lang="en-US" altLang="zh-CN" dirty="0">
                <a:solidFill>
                  <a:schemeClr val="tx1"/>
                </a:solidFill>
              </a:rPr>
              <a:t>and</a:t>
            </a:r>
            <a:r>
              <a:rPr lang="zh-CN" altLang="en-US" dirty="0">
                <a:solidFill>
                  <a:schemeClr val="tx1"/>
                </a:solidFill>
              </a:rPr>
              <a:t> </a:t>
            </a:r>
            <a:r>
              <a:rPr lang="en-US" altLang="zh-CN" dirty="0">
                <a:solidFill>
                  <a:schemeClr val="tx1"/>
                </a:solidFill>
              </a:rPr>
              <a:t>h2),</a:t>
            </a:r>
            <a:r>
              <a:rPr lang="zh-CN" altLang="en-US" dirty="0">
                <a:solidFill>
                  <a:schemeClr val="tx1"/>
                </a:solidFill>
              </a:rPr>
              <a:t> </a:t>
            </a:r>
            <a:r>
              <a:rPr lang="en-US" altLang="zh-CN" dirty="0">
                <a:solidFill>
                  <a:schemeClr val="tx1"/>
                </a:solidFill>
              </a:rPr>
              <a:t>and</a:t>
            </a:r>
            <a:r>
              <a:rPr lang="zh-CN" altLang="en-US" dirty="0">
                <a:solidFill>
                  <a:schemeClr val="tx1"/>
                </a:solidFill>
              </a:rPr>
              <a:t> </a:t>
            </a:r>
            <a:r>
              <a:rPr lang="en-US" altLang="zh-CN" dirty="0">
                <a:solidFill>
                  <a:schemeClr val="tx1"/>
                </a:solidFill>
              </a:rPr>
              <a:t>also</a:t>
            </a:r>
            <a:r>
              <a:rPr lang="zh-CN" altLang="en-US" dirty="0">
                <a:solidFill>
                  <a:schemeClr val="tx1"/>
                </a:solidFill>
              </a:rPr>
              <a:t> </a:t>
            </a:r>
            <a:r>
              <a:rPr lang="en-US" altLang="zh-CN" dirty="0">
                <a:solidFill>
                  <a:schemeClr val="tx1"/>
                </a:solidFill>
              </a:rPr>
              <a:t>dimension(d2)</a:t>
            </a:r>
            <a:r>
              <a:rPr lang="en-US" dirty="0">
                <a:solidFill>
                  <a:schemeClr val="tx1"/>
                </a:solidFill>
              </a:rPr>
              <a:t> of the output image, </a:t>
            </a:r>
            <a:r>
              <a:rPr lang="en-US" altLang="zh-CN" dirty="0">
                <a:solidFill>
                  <a:schemeClr val="tx1"/>
                </a:solidFill>
              </a:rPr>
              <a:t>and</a:t>
            </a:r>
            <a:r>
              <a:rPr lang="zh-CN" altLang="en-US" dirty="0">
                <a:solidFill>
                  <a:schemeClr val="tx1"/>
                </a:solidFill>
              </a:rPr>
              <a:t> </a:t>
            </a:r>
            <a:r>
              <a:rPr lang="en-US" altLang="zh-CN" dirty="0">
                <a:solidFill>
                  <a:schemeClr val="tx1"/>
                </a:solidFill>
              </a:rPr>
              <a:t>we</a:t>
            </a:r>
            <a:r>
              <a:rPr lang="zh-CN" altLang="en-US" dirty="0">
                <a:solidFill>
                  <a:schemeClr val="tx1"/>
                </a:solidFill>
              </a:rPr>
              <a:t> </a:t>
            </a:r>
            <a:r>
              <a:rPr lang="en-US" altLang="zh-CN" dirty="0">
                <a:solidFill>
                  <a:schemeClr val="tx1"/>
                </a:solidFill>
              </a:rPr>
              <a:t>will</a:t>
            </a:r>
            <a:r>
              <a:rPr lang="zh-CN" altLang="en-US" dirty="0">
                <a:solidFill>
                  <a:schemeClr val="tx1"/>
                </a:solidFill>
              </a:rPr>
              <a:t> </a:t>
            </a:r>
            <a:r>
              <a:rPr lang="en-US" altLang="zh-CN" dirty="0">
                <a:solidFill>
                  <a:schemeClr val="tx1"/>
                </a:solidFill>
              </a:rPr>
              <a:t>first</a:t>
            </a:r>
            <a:r>
              <a:rPr lang="zh-CN" altLang="en-US" dirty="0">
                <a:solidFill>
                  <a:schemeClr val="tx1"/>
                </a:solidFill>
              </a:rPr>
              <a:t> </a:t>
            </a:r>
            <a:r>
              <a:rPr lang="en-US" altLang="zh-CN" dirty="0">
                <a:solidFill>
                  <a:schemeClr val="tx1"/>
                </a:solidFill>
              </a:rPr>
              <a:t>talk</a:t>
            </a:r>
            <a:r>
              <a:rPr lang="zh-CN" altLang="en-US" dirty="0">
                <a:solidFill>
                  <a:schemeClr val="tx1"/>
                </a:solidFill>
              </a:rPr>
              <a:t> </a:t>
            </a:r>
            <a:r>
              <a:rPr lang="en-US" altLang="zh-CN" dirty="0">
                <a:solidFill>
                  <a:schemeClr val="tx1"/>
                </a:solidFill>
              </a:rPr>
              <a:t>about</a:t>
            </a:r>
            <a:r>
              <a:rPr lang="zh-CN" altLang="en-US" dirty="0">
                <a:solidFill>
                  <a:schemeClr val="tx1"/>
                </a:solidFill>
              </a:rPr>
              <a:t> </a:t>
            </a:r>
            <a:r>
              <a:rPr lang="en-US" altLang="zh-CN" dirty="0">
                <a:solidFill>
                  <a:schemeClr val="tx1"/>
                </a:solidFill>
              </a:rPr>
              <a:t>how</a:t>
            </a:r>
            <a:r>
              <a:rPr lang="zh-CN" altLang="en-US" dirty="0">
                <a:solidFill>
                  <a:schemeClr val="tx1"/>
                </a:solidFill>
              </a:rPr>
              <a:t> </a:t>
            </a:r>
            <a:r>
              <a:rPr lang="en-US" altLang="zh-CN" dirty="0">
                <a:solidFill>
                  <a:schemeClr val="tx1"/>
                </a:solidFill>
              </a:rPr>
              <a:t>to</a:t>
            </a:r>
            <a:r>
              <a:rPr lang="zh-CN" altLang="en-US" dirty="0">
                <a:solidFill>
                  <a:schemeClr val="tx1"/>
                </a:solidFill>
              </a:rPr>
              <a:t> </a:t>
            </a:r>
            <a:r>
              <a:rPr lang="en-US" altLang="zh-CN" dirty="0">
                <a:solidFill>
                  <a:schemeClr val="tx1"/>
                </a:solidFill>
              </a:rPr>
              <a:t>calculate</a:t>
            </a:r>
            <a:r>
              <a:rPr lang="zh-CN" altLang="en-US" dirty="0">
                <a:solidFill>
                  <a:schemeClr val="tx1"/>
                </a:solidFill>
              </a:rPr>
              <a:t> </a:t>
            </a:r>
            <a:r>
              <a:rPr lang="en-US" altLang="zh-CN" dirty="0">
                <a:solidFill>
                  <a:schemeClr val="tx1"/>
                </a:solidFill>
              </a:rPr>
              <a:t>the</a:t>
            </a:r>
            <a:r>
              <a:rPr lang="zh-CN" altLang="en-US" dirty="0">
                <a:solidFill>
                  <a:schemeClr val="tx1"/>
                </a:solidFill>
              </a:rPr>
              <a:t> </a:t>
            </a:r>
            <a:r>
              <a:rPr lang="en-US" altLang="zh-CN" dirty="0">
                <a:solidFill>
                  <a:schemeClr val="tx1"/>
                </a:solidFill>
              </a:rPr>
              <a:t>w2</a:t>
            </a:r>
            <a:r>
              <a:rPr lang="zh-CN" altLang="en-US" dirty="0">
                <a:solidFill>
                  <a:schemeClr val="tx1"/>
                </a:solidFill>
              </a:rPr>
              <a:t> </a:t>
            </a:r>
            <a:r>
              <a:rPr lang="en-US" altLang="zh-CN" dirty="0">
                <a:solidFill>
                  <a:schemeClr val="tx1"/>
                </a:solidFill>
              </a:rPr>
              <a:t>and</a:t>
            </a:r>
            <a:r>
              <a:rPr lang="zh-CN" altLang="en-US" dirty="0">
                <a:solidFill>
                  <a:schemeClr val="tx1"/>
                </a:solidFill>
              </a:rPr>
              <a:t> </a:t>
            </a:r>
            <a:r>
              <a:rPr lang="en-US" altLang="zh-CN" dirty="0">
                <a:solidFill>
                  <a:schemeClr val="tx1"/>
                </a:solidFill>
              </a:rPr>
              <a:t>h2.</a:t>
            </a:r>
            <a:r>
              <a:rPr lang="zh-CN" altLang="en-US" dirty="0">
                <a:solidFill>
                  <a:schemeClr val="tx1"/>
                </a:solidFill>
              </a:rPr>
              <a:t> </a:t>
            </a:r>
            <a:r>
              <a:rPr lang="en-US" altLang="zh-CN" dirty="0">
                <a:solidFill>
                  <a:schemeClr val="tx1"/>
                </a:solidFill>
              </a:rPr>
              <a:t>We</a:t>
            </a:r>
            <a:r>
              <a:rPr lang="zh-CN" altLang="en-US" dirty="0">
                <a:solidFill>
                  <a:schemeClr val="tx1"/>
                </a:solidFill>
              </a:rPr>
              <a:t> </a:t>
            </a:r>
            <a:r>
              <a:rPr lang="en-US" altLang="zh-CN" dirty="0">
                <a:solidFill>
                  <a:schemeClr val="tx1"/>
                </a:solidFill>
              </a:rPr>
              <a:t>will</a:t>
            </a:r>
            <a:r>
              <a:rPr lang="zh-CN" altLang="en-US" dirty="0">
                <a:solidFill>
                  <a:schemeClr val="tx1"/>
                </a:solidFill>
              </a:rPr>
              <a:t> </a:t>
            </a:r>
            <a:r>
              <a:rPr lang="en-US" altLang="zh-CN" dirty="0">
                <a:solidFill>
                  <a:schemeClr val="tx1"/>
                </a:solidFill>
              </a:rPr>
              <a:t>use</a:t>
            </a:r>
            <a:r>
              <a:rPr lang="zh-CN" altLang="en-US" dirty="0">
                <a:solidFill>
                  <a:schemeClr val="tx1"/>
                </a:solidFill>
              </a:rPr>
              <a:t> </a:t>
            </a:r>
            <a:r>
              <a:rPr lang="en-US" dirty="0">
                <a:solidFill>
                  <a:schemeClr val="tx1"/>
                </a:solidFill>
              </a:rPr>
              <a:t>the padding and stride</a:t>
            </a:r>
            <a:r>
              <a:rPr lang="zh-CN" altLang="en-US" dirty="0">
                <a:solidFill>
                  <a:schemeClr val="tx1"/>
                </a:solidFill>
              </a:rPr>
              <a:t> </a:t>
            </a:r>
            <a:r>
              <a:rPr lang="en-US" altLang="zh-CN" dirty="0">
                <a:solidFill>
                  <a:schemeClr val="tx1"/>
                </a:solidFill>
              </a:rPr>
              <a:t>in</a:t>
            </a:r>
            <a:r>
              <a:rPr lang="zh-CN" altLang="en-US" dirty="0">
                <a:solidFill>
                  <a:schemeClr val="tx1"/>
                </a:solidFill>
              </a:rPr>
              <a:t> </a:t>
            </a:r>
            <a:r>
              <a:rPr lang="en-US" altLang="zh-CN" dirty="0">
                <a:solidFill>
                  <a:schemeClr val="tx1"/>
                </a:solidFill>
              </a:rPr>
              <a:t>the</a:t>
            </a:r>
            <a:r>
              <a:rPr lang="zh-CN" altLang="en-US" dirty="0">
                <a:solidFill>
                  <a:schemeClr val="tx1"/>
                </a:solidFill>
              </a:rPr>
              <a:t> </a:t>
            </a:r>
            <a:r>
              <a:rPr lang="en-US" altLang="zh-CN" dirty="0">
                <a:solidFill>
                  <a:schemeClr val="tx1"/>
                </a:solidFill>
              </a:rPr>
              <a:t>equation</a:t>
            </a:r>
            <a:r>
              <a:rPr lang="en-US" dirty="0">
                <a:solidFill>
                  <a:schemeClr val="tx1"/>
                </a:solidFill>
              </a:rPr>
              <a:t>. </a:t>
            </a:r>
            <a:r>
              <a:rPr lang="en-US" altLang="zh-CN" dirty="0">
                <a:solidFill>
                  <a:schemeClr val="tx1"/>
                </a:solidFill>
              </a:rPr>
              <a:t>For</a:t>
            </a:r>
            <a:r>
              <a:rPr lang="zh-CN" altLang="en-US" dirty="0">
                <a:solidFill>
                  <a:schemeClr val="tx1"/>
                </a:solidFill>
              </a:rPr>
              <a:t> </a:t>
            </a:r>
            <a:r>
              <a:rPr lang="en-US" altLang="zh-CN" dirty="0">
                <a:solidFill>
                  <a:schemeClr val="tx1"/>
                </a:solidFill>
              </a:rPr>
              <a:t>padding</a:t>
            </a:r>
            <a:r>
              <a:rPr lang="en-US" dirty="0">
                <a:solidFill>
                  <a:schemeClr val="tx1"/>
                </a:solidFill>
              </a:rPr>
              <a:t>, </a:t>
            </a:r>
            <a:r>
              <a:rPr lang="en-US" altLang="zh-CN" dirty="0">
                <a:solidFill>
                  <a:schemeClr val="tx1"/>
                </a:solidFill>
              </a:rPr>
              <a:t>as</a:t>
            </a:r>
            <a:r>
              <a:rPr lang="zh-CN" altLang="en-US" dirty="0">
                <a:solidFill>
                  <a:schemeClr val="tx1"/>
                </a:solidFill>
              </a:rPr>
              <a:t> </a:t>
            </a:r>
            <a:r>
              <a:rPr lang="en-US" dirty="0">
                <a:solidFill>
                  <a:schemeClr val="tx1"/>
                </a:solidFill>
              </a:rPr>
              <a:t>it </a:t>
            </a:r>
            <a:r>
              <a:rPr lang="en-US" altLang="zh-CN" dirty="0">
                <a:solidFill>
                  <a:schemeClr val="tx1"/>
                </a:solidFill>
              </a:rPr>
              <a:t>will</a:t>
            </a:r>
            <a:r>
              <a:rPr lang="zh-CN" altLang="en-US" dirty="0">
                <a:solidFill>
                  <a:schemeClr val="tx1"/>
                </a:solidFill>
              </a:rPr>
              <a:t> </a:t>
            </a:r>
            <a:r>
              <a:rPr lang="en-US" dirty="0">
                <a:solidFill>
                  <a:schemeClr val="tx1"/>
                </a:solidFill>
              </a:rPr>
              <a:t>be padded on both side of the image, </a:t>
            </a:r>
            <a:r>
              <a:rPr lang="en-US" altLang="zh-CN" dirty="0">
                <a:solidFill>
                  <a:schemeClr val="tx1"/>
                </a:solidFill>
              </a:rPr>
              <a:t>so</a:t>
            </a:r>
            <a:r>
              <a:rPr lang="zh-CN" altLang="en-US" dirty="0">
                <a:solidFill>
                  <a:schemeClr val="tx1"/>
                </a:solidFill>
              </a:rPr>
              <a:t> </a:t>
            </a:r>
            <a:r>
              <a:rPr lang="en-US" altLang="zh-CN" dirty="0">
                <a:solidFill>
                  <a:schemeClr val="tx1"/>
                </a:solidFill>
              </a:rPr>
              <a:t>we</a:t>
            </a:r>
            <a:r>
              <a:rPr lang="zh-CN" altLang="en-US" dirty="0">
                <a:solidFill>
                  <a:schemeClr val="tx1"/>
                </a:solidFill>
              </a:rPr>
              <a:t> </a:t>
            </a:r>
            <a:r>
              <a:rPr lang="en-US" altLang="zh-CN" dirty="0">
                <a:solidFill>
                  <a:schemeClr val="tx1"/>
                </a:solidFill>
              </a:rPr>
              <a:t>will</a:t>
            </a:r>
            <a:r>
              <a:rPr lang="zh-CN" altLang="en-US" dirty="0">
                <a:solidFill>
                  <a:schemeClr val="tx1"/>
                </a:solidFill>
              </a:rPr>
              <a:t> </a:t>
            </a:r>
            <a:r>
              <a:rPr lang="en-US" altLang="zh-CN" dirty="0">
                <a:solidFill>
                  <a:schemeClr val="tx1"/>
                </a:solidFill>
              </a:rPr>
              <a:t>add</a:t>
            </a:r>
            <a:r>
              <a:rPr lang="zh-CN" altLang="en-US" dirty="0">
                <a:solidFill>
                  <a:schemeClr val="tx1"/>
                </a:solidFill>
              </a:rPr>
              <a:t> </a:t>
            </a:r>
            <a:r>
              <a:rPr lang="en-US" dirty="0">
                <a:solidFill>
                  <a:schemeClr val="tx1"/>
                </a:solidFill>
              </a:rPr>
              <a:t>2*p</a:t>
            </a:r>
            <a:r>
              <a:rPr lang="en-US" altLang="zh-CN" dirty="0">
                <a:solidFill>
                  <a:schemeClr val="tx1"/>
                </a:solidFill>
              </a:rPr>
              <a:t>adding</a:t>
            </a:r>
            <a:r>
              <a:rPr lang="zh-CN" altLang="en-US" dirty="0">
                <a:solidFill>
                  <a:schemeClr val="tx1"/>
                </a:solidFill>
              </a:rPr>
              <a:t> </a:t>
            </a:r>
            <a:r>
              <a:rPr lang="en-US" altLang="zh-CN" dirty="0">
                <a:solidFill>
                  <a:schemeClr val="tx1"/>
                </a:solidFill>
              </a:rPr>
              <a:t>in the</a:t>
            </a:r>
            <a:r>
              <a:rPr lang="zh-CN" altLang="en-US" dirty="0">
                <a:solidFill>
                  <a:schemeClr val="tx1"/>
                </a:solidFill>
              </a:rPr>
              <a:t> </a:t>
            </a:r>
            <a:r>
              <a:rPr lang="en-US" altLang="zh-CN" dirty="0">
                <a:solidFill>
                  <a:schemeClr val="tx1"/>
                </a:solidFill>
              </a:rPr>
              <a:t>equation</a:t>
            </a:r>
            <a:r>
              <a:rPr lang="en-US" dirty="0">
                <a:solidFill>
                  <a:schemeClr val="tx1"/>
                </a:solidFill>
              </a:rPr>
              <a:t>. </a:t>
            </a:r>
            <a:r>
              <a:rPr lang="en-US" altLang="zh-CN" dirty="0">
                <a:solidFill>
                  <a:schemeClr val="tx1"/>
                </a:solidFill>
              </a:rPr>
              <a:t>For</a:t>
            </a:r>
            <a:r>
              <a:rPr lang="zh-CN" altLang="en-US" dirty="0">
                <a:solidFill>
                  <a:schemeClr val="tx1"/>
                </a:solidFill>
              </a:rPr>
              <a:t> </a:t>
            </a:r>
            <a:r>
              <a:rPr lang="en-US" altLang="zh-CN" dirty="0">
                <a:solidFill>
                  <a:schemeClr val="tx1"/>
                </a:solidFill>
              </a:rPr>
              <a:t>stride,</a:t>
            </a:r>
            <a:r>
              <a:rPr lang="zh-CN" altLang="en-US" dirty="0">
                <a:solidFill>
                  <a:schemeClr val="tx1"/>
                </a:solidFill>
              </a:rPr>
              <a:t> </a:t>
            </a:r>
            <a:r>
              <a:rPr lang="en-US" altLang="zh-CN" dirty="0">
                <a:solidFill>
                  <a:schemeClr val="tx1"/>
                </a:solidFill>
              </a:rPr>
              <a:t>if</a:t>
            </a:r>
            <a:r>
              <a:rPr lang="zh-CN" altLang="en-US" dirty="0">
                <a:solidFill>
                  <a:schemeClr val="tx1"/>
                </a:solidFill>
              </a:rPr>
              <a:t> </a:t>
            </a:r>
            <a:r>
              <a:rPr lang="en-US" dirty="0">
                <a:solidFill>
                  <a:schemeClr val="tx1"/>
                </a:solidFill>
              </a:rPr>
              <a:t>there is not enough pixel </a:t>
            </a:r>
            <a:r>
              <a:rPr lang="en-US" altLang="zh-CN" dirty="0">
                <a:solidFill>
                  <a:schemeClr val="tx1"/>
                </a:solidFill>
              </a:rPr>
              <a:t>to</a:t>
            </a:r>
            <a:r>
              <a:rPr lang="zh-CN" altLang="en-US" dirty="0">
                <a:solidFill>
                  <a:schemeClr val="tx1"/>
                </a:solidFill>
              </a:rPr>
              <a:t> </a:t>
            </a:r>
            <a:r>
              <a:rPr lang="en-US" altLang="zh-CN" dirty="0">
                <a:solidFill>
                  <a:schemeClr val="tx1"/>
                </a:solidFill>
              </a:rPr>
              <a:t>let</a:t>
            </a:r>
            <a:r>
              <a:rPr lang="zh-CN" altLang="en-US" dirty="0">
                <a:solidFill>
                  <a:schemeClr val="tx1"/>
                </a:solidFill>
              </a:rPr>
              <a:t> </a:t>
            </a:r>
            <a:r>
              <a:rPr lang="en-US" altLang="zh-CN" dirty="0">
                <a:solidFill>
                  <a:schemeClr val="tx1"/>
                </a:solidFill>
              </a:rPr>
              <a:t>a</a:t>
            </a:r>
            <a:r>
              <a:rPr lang="zh-CN" altLang="en-US" dirty="0">
                <a:solidFill>
                  <a:schemeClr val="tx1"/>
                </a:solidFill>
              </a:rPr>
              <a:t> </a:t>
            </a:r>
            <a:r>
              <a:rPr lang="en-US" altLang="zh-CN" dirty="0">
                <a:solidFill>
                  <a:schemeClr val="tx1"/>
                </a:solidFill>
              </a:rPr>
              <a:t>pixel</a:t>
            </a:r>
            <a:r>
              <a:rPr lang="zh-CN" altLang="en-US" dirty="0">
                <a:solidFill>
                  <a:schemeClr val="tx1"/>
                </a:solidFill>
              </a:rPr>
              <a:t> </a:t>
            </a:r>
            <a:r>
              <a:rPr lang="en-US" altLang="zh-CN" dirty="0">
                <a:solidFill>
                  <a:schemeClr val="tx1"/>
                </a:solidFill>
              </a:rPr>
              <a:t>become</a:t>
            </a:r>
            <a:r>
              <a:rPr lang="zh-CN" altLang="en-US" dirty="0">
                <a:solidFill>
                  <a:schemeClr val="tx1"/>
                </a:solidFill>
              </a:rPr>
              <a:t> </a:t>
            </a:r>
            <a:r>
              <a:rPr lang="en-US" altLang="zh-CN" dirty="0">
                <a:solidFill>
                  <a:schemeClr val="tx1"/>
                </a:solidFill>
              </a:rPr>
              <a:t>center</a:t>
            </a:r>
            <a:r>
              <a:rPr lang="zh-CN" altLang="en-US" dirty="0">
                <a:solidFill>
                  <a:schemeClr val="tx1"/>
                </a:solidFill>
              </a:rPr>
              <a:t> </a:t>
            </a:r>
            <a:r>
              <a:rPr lang="en-US" altLang="zh-CN" dirty="0">
                <a:solidFill>
                  <a:schemeClr val="tx1"/>
                </a:solidFill>
              </a:rPr>
              <a:t>pixel</a:t>
            </a:r>
            <a:r>
              <a:rPr lang="en-US" dirty="0">
                <a:solidFill>
                  <a:schemeClr val="tx1"/>
                </a:solidFill>
              </a:rPr>
              <a:t>,</a:t>
            </a:r>
            <a:r>
              <a:rPr lang="zh-CN" altLang="en-US" dirty="0">
                <a:solidFill>
                  <a:schemeClr val="tx1"/>
                </a:solidFill>
              </a:rPr>
              <a:t> </a:t>
            </a:r>
            <a:r>
              <a:rPr lang="en-US" altLang="zh-CN" dirty="0">
                <a:solidFill>
                  <a:schemeClr val="tx1"/>
                </a:solidFill>
              </a:rPr>
              <a:t>we</a:t>
            </a:r>
            <a:r>
              <a:rPr lang="zh-CN" altLang="en-US" dirty="0">
                <a:solidFill>
                  <a:schemeClr val="tx1"/>
                </a:solidFill>
              </a:rPr>
              <a:t> </a:t>
            </a:r>
            <a:r>
              <a:rPr lang="en-US" altLang="zh-CN" dirty="0">
                <a:solidFill>
                  <a:schemeClr val="tx1"/>
                </a:solidFill>
              </a:rPr>
              <a:t>use</a:t>
            </a:r>
            <a:r>
              <a:rPr lang="en-US" dirty="0">
                <a:solidFill>
                  <a:schemeClr val="tx1"/>
                </a:solidFill>
              </a:rPr>
              <a:t> integer division of the stride </a:t>
            </a:r>
            <a:r>
              <a:rPr lang="en-US" altLang="zh-CN" dirty="0">
                <a:solidFill>
                  <a:schemeClr val="tx1"/>
                </a:solidFill>
              </a:rPr>
              <a:t>then</a:t>
            </a:r>
            <a:r>
              <a:rPr lang="zh-CN" altLang="en-US" dirty="0">
                <a:solidFill>
                  <a:schemeClr val="tx1"/>
                </a:solidFill>
              </a:rPr>
              <a:t> </a:t>
            </a:r>
            <a:r>
              <a:rPr lang="en-US" dirty="0">
                <a:solidFill>
                  <a:schemeClr val="tx1"/>
                </a:solidFill>
              </a:rPr>
              <a:t>plus one. </a:t>
            </a:r>
          </a:p>
          <a:p>
            <a:r>
              <a:rPr lang="en-US" altLang="zh-CN" dirty="0">
                <a:solidFill>
                  <a:schemeClr val="tx1"/>
                </a:solidFill>
              </a:rPr>
              <a:t>Besides</a:t>
            </a:r>
            <a:r>
              <a:rPr lang="en-US" dirty="0">
                <a:solidFill>
                  <a:schemeClr val="tx1"/>
                </a:solidFill>
              </a:rPr>
              <a:t>,</a:t>
            </a:r>
            <a:r>
              <a:rPr lang="zh-CN" altLang="en-US" dirty="0">
                <a:solidFill>
                  <a:schemeClr val="tx1"/>
                </a:solidFill>
              </a:rPr>
              <a:t> </a:t>
            </a:r>
            <a:r>
              <a:rPr lang="en-US" altLang="zh-CN" dirty="0">
                <a:solidFill>
                  <a:schemeClr val="tx1"/>
                </a:solidFill>
              </a:rPr>
              <a:t>for</a:t>
            </a:r>
            <a:r>
              <a:rPr lang="zh-CN" altLang="en-US" dirty="0">
                <a:solidFill>
                  <a:schemeClr val="tx1"/>
                </a:solidFill>
              </a:rPr>
              <a:t> </a:t>
            </a:r>
            <a:r>
              <a:rPr lang="en-US" altLang="zh-CN" dirty="0">
                <a:solidFill>
                  <a:schemeClr val="tx1"/>
                </a:solidFill>
              </a:rPr>
              <a:t>the</a:t>
            </a:r>
            <a:r>
              <a:rPr lang="en-US" dirty="0">
                <a:solidFill>
                  <a:schemeClr val="tx1"/>
                </a:solidFill>
              </a:rPr>
              <a:t> output</a:t>
            </a:r>
            <a:r>
              <a:rPr lang="zh-CN" altLang="en-US" dirty="0">
                <a:solidFill>
                  <a:schemeClr val="tx1"/>
                </a:solidFill>
              </a:rPr>
              <a:t> </a:t>
            </a:r>
            <a:r>
              <a:rPr lang="en-US" altLang="zh-CN" dirty="0">
                <a:solidFill>
                  <a:schemeClr val="tx1"/>
                </a:solidFill>
              </a:rPr>
              <a:t>dimension(d2),</a:t>
            </a:r>
            <a:r>
              <a:rPr lang="zh-CN" altLang="en-US" dirty="0">
                <a:solidFill>
                  <a:schemeClr val="tx1"/>
                </a:solidFill>
              </a:rPr>
              <a:t> </a:t>
            </a:r>
            <a:r>
              <a:rPr lang="en-US" altLang="zh-CN" dirty="0">
                <a:solidFill>
                  <a:schemeClr val="tx1"/>
                </a:solidFill>
              </a:rPr>
              <a:t>it</a:t>
            </a:r>
            <a:r>
              <a:rPr lang="en-US" dirty="0">
                <a:solidFill>
                  <a:schemeClr val="tx1"/>
                </a:solidFill>
              </a:rPr>
              <a:t> will </a:t>
            </a:r>
            <a:r>
              <a:rPr lang="en-US" altLang="zh-CN" dirty="0">
                <a:solidFill>
                  <a:schemeClr val="tx1"/>
                </a:solidFill>
              </a:rPr>
              <a:t>be</a:t>
            </a:r>
            <a:r>
              <a:rPr lang="zh-CN" altLang="en-US" dirty="0">
                <a:solidFill>
                  <a:schemeClr val="tx1"/>
                </a:solidFill>
              </a:rPr>
              <a:t> </a:t>
            </a:r>
            <a:r>
              <a:rPr lang="en-US" altLang="zh-CN" dirty="0">
                <a:solidFill>
                  <a:schemeClr val="tx1"/>
                </a:solidFill>
              </a:rPr>
              <a:t>related</a:t>
            </a:r>
            <a:r>
              <a:rPr lang="en-US" dirty="0">
                <a:solidFill>
                  <a:schemeClr val="tx1"/>
                </a:solidFill>
              </a:rPr>
              <a:t> to the </a:t>
            </a:r>
            <a:r>
              <a:rPr lang="en-US" altLang="zh-CN" dirty="0">
                <a:solidFill>
                  <a:schemeClr val="tx1"/>
                </a:solidFill>
              </a:rPr>
              <a:t>kernel</a:t>
            </a:r>
            <a:r>
              <a:rPr lang="zh-CN" altLang="en-US" dirty="0">
                <a:solidFill>
                  <a:schemeClr val="tx1"/>
                </a:solidFill>
              </a:rPr>
              <a:t> </a:t>
            </a:r>
            <a:r>
              <a:rPr lang="en-US" altLang="zh-CN" dirty="0">
                <a:solidFill>
                  <a:schemeClr val="tx1"/>
                </a:solidFill>
              </a:rPr>
              <a:t>dimension:</a:t>
            </a:r>
            <a:r>
              <a:rPr lang="zh-CN" altLang="en-US" dirty="0">
                <a:solidFill>
                  <a:schemeClr val="tx1"/>
                </a:solidFill>
              </a:rPr>
              <a:t> </a:t>
            </a:r>
            <a:r>
              <a:rPr lang="en-US" altLang="zh-CN" dirty="0">
                <a:solidFill>
                  <a:schemeClr val="tx1"/>
                </a:solidFill>
              </a:rPr>
              <a:t>as</a:t>
            </a:r>
            <a:r>
              <a:rPr lang="zh-CN" altLang="en-US" dirty="0">
                <a:solidFill>
                  <a:schemeClr val="tx1"/>
                </a:solidFill>
              </a:rPr>
              <a:t> </a:t>
            </a:r>
            <a:r>
              <a:rPr lang="en-US" altLang="zh-CN" dirty="0">
                <a:solidFill>
                  <a:schemeClr val="tx1"/>
                </a:solidFill>
              </a:rPr>
              <a:t>g</a:t>
            </a:r>
            <a:r>
              <a:rPr lang="en-US" dirty="0">
                <a:solidFill>
                  <a:schemeClr val="tx1"/>
                </a:solidFill>
              </a:rPr>
              <a:t>roup</a:t>
            </a:r>
            <a:r>
              <a:rPr lang="zh-CN" altLang="en-US" dirty="0">
                <a:solidFill>
                  <a:schemeClr val="tx1"/>
                </a:solidFill>
              </a:rPr>
              <a:t> </a:t>
            </a:r>
            <a:r>
              <a:rPr lang="en-US" altLang="zh-CN" dirty="0">
                <a:solidFill>
                  <a:schemeClr val="tx1"/>
                </a:solidFill>
              </a:rPr>
              <a:t>is</a:t>
            </a:r>
            <a:r>
              <a:rPr lang="zh-CN" altLang="en-US" dirty="0">
                <a:solidFill>
                  <a:schemeClr val="tx1"/>
                </a:solidFill>
              </a:rPr>
              <a:t> </a:t>
            </a:r>
            <a:r>
              <a:rPr lang="en-US" altLang="zh-CN" dirty="0">
                <a:solidFill>
                  <a:schemeClr val="tx1"/>
                </a:solidFill>
              </a:rPr>
              <a:t>used</a:t>
            </a:r>
            <a:r>
              <a:rPr lang="zh-CN" altLang="en-US" dirty="0">
                <a:solidFill>
                  <a:schemeClr val="tx1"/>
                </a:solidFill>
              </a:rPr>
              <a:t> </a:t>
            </a:r>
            <a:r>
              <a:rPr lang="en-US" altLang="zh-CN" dirty="0">
                <a:solidFill>
                  <a:schemeClr val="tx1"/>
                </a:solidFill>
              </a:rPr>
              <a:t>for</a:t>
            </a:r>
            <a:r>
              <a:rPr lang="zh-CN" altLang="en-US" dirty="0">
                <a:solidFill>
                  <a:schemeClr val="tx1"/>
                </a:solidFill>
              </a:rPr>
              <a:t> </a:t>
            </a:r>
            <a:r>
              <a:rPr lang="en-US" altLang="zh-CN" dirty="0">
                <a:solidFill>
                  <a:schemeClr val="tx1"/>
                </a:solidFill>
              </a:rPr>
              <a:t>generate</a:t>
            </a:r>
            <a:r>
              <a:rPr lang="en-US" dirty="0">
                <a:solidFill>
                  <a:schemeClr val="tx1"/>
                </a:solidFill>
              </a:rPr>
              <a:t> different channel</a:t>
            </a:r>
            <a:r>
              <a:rPr lang="zh-CN" altLang="en-US" dirty="0">
                <a:solidFill>
                  <a:schemeClr val="tx1"/>
                </a:solidFill>
              </a:rPr>
              <a:t> </a:t>
            </a:r>
            <a:r>
              <a:rPr lang="en-US" altLang="zh-CN" dirty="0">
                <a:solidFill>
                  <a:schemeClr val="tx1"/>
                </a:solidFill>
              </a:rPr>
              <a:t>with</a:t>
            </a:r>
            <a:r>
              <a:rPr lang="en-US" dirty="0">
                <a:solidFill>
                  <a:schemeClr val="tx1"/>
                </a:solidFill>
              </a:rPr>
              <a:t> different group of filters. </a:t>
            </a:r>
          </a:p>
          <a:p>
            <a:endParaRPr dirty="0"/>
          </a:p>
        </p:txBody>
      </p:sp>
      <p:sp>
        <p:nvSpPr>
          <p:cNvPr id="4" name="Google Shape;176;p36">
            <a:extLst>
              <a:ext uri="{FF2B5EF4-FFF2-40B4-BE49-F238E27FC236}">
                <a16:creationId xmlns:a16="http://schemas.microsoft.com/office/drawing/2014/main" id="{9D456C8C-54E4-BC49-8CE2-BD68F478A90C}"/>
              </a:ext>
            </a:extLst>
          </p:cNvPr>
          <p:cNvSpPr txBox="1">
            <a:spLocks/>
          </p:cNvSpPr>
          <p:nvPr/>
        </p:nvSpPr>
        <p:spPr>
          <a:xfrm>
            <a:off x="311699" y="1152475"/>
            <a:ext cx="39999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marL="0" marR="0" indent="0" algn="l" defTabSz="914400" rtl="0" latinLnBrk="0">
              <a:lnSpc>
                <a:spcPct val="115000"/>
              </a:lnSpc>
              <a:spcBef>
                <a:spcPts val="0"/>
              </a:spcBef>
              <a:spcAft>
                <a:spcPts val="0"/>
              </a:spcAft>
              <a:buClr>
                <a:schemeClr val="accent2">
                  <a:lumOff val="21764"/>
                </a:schemeClr>
              </a:buClr>
              <a:buSzTx/>
              <a:buFont typeface="Arial"/>
              <a:buNone/>
              <a:tabLst/>
              <a:defRPr sz="1400" b="0" i="0" u="none" strike="noStrike" cap="none" spc="0" baseline="0">
                <a:solidFill>
                  <a:schemeClr val="accent2">
                    <a:lumOff val="21764"/>
                  </a:schemeClr>
                </a:solidFill>
                <a:uFillTx/>
                <a:latin typeface="+mj-lt"/>
                <a:ea typeface="+mj-ea"/>
                <a:cs typeface="+mj-cs"/>
                <a:sym typeface="Arial"/>
              </a:defRPr>
            </a:lvl1pPr>
            <a:lvl2pPr marL="9652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2pPr>
            <a:lvl3pPr marL="14224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3pPr>
            <a:lvl4pPr marL="18796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4pPr>
            <a:lvl5pPr marL="23368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9pPr>
          </a:lstStyle>
          <a:p>
            <a:pPr hangingPunct="1"/>
            <a:r>
              <a:rPr lang="en-US"/>
              <a:t>[How many filters did we apply to the dog image?]</a:t>
            </a:r>
            <a:endParaRPr lang="en-US" dirty="0"/>
          </a:p>
        </p:txBody>
      </p:sp>
      <p:sp>
        <p:nvSpPr>
          <p:cNvPr id="2" name="TextBox 1">
            <a:extLst>
              <a:ext uri="{FF2B5EF4-FFF2-40B4-BE49-F238E27FC236}">
                <a16:creationId xmlns:a16="http://schemas.microsoft.com/office/drawing/2014/main" id="{2B2A0188-00FB-EB4B-8901-5AA2D7877C53}"/>
              </a:ext>
            </a:extLst>
          </p:cNvPr>
          <p:cNvSpPr txBox="1"/>
          <p:nvPr/>
        </p:nvSpPr>
        <p:spPr>
          <a:xfrm>
            <a:off x="311699" y="1904214"/>
            <a:ext cx="328934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kumimoji="0" lang="en-US" altLang="zh-CN" sz="1400" b="0" i="0" u="none" strike="noStrike" cap="none" spc="0" normalizeH="0" baseline="0" dirty="0">
                <a:ln>
                  <a:noFill/>
                </a:ln>
                <a:solidFill>
                  <a:srgbClr val="000000"/>
                </a:solidFill>
                <a:effectLst/>
                <a:uFillTx/>
                <a:latin typeface="+mj-lt"/>
                <a:ea typeface="+mj-ea"/>
                <a:cs typeface="+mj-cs"/>
                <a:sym typeface="Arial"/>
              </a:rPr>
              <a:t>There</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are</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12</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filters</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in</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the</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filter</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bank.</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There</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are</a:t>
            </a:r>
            <a:r>
              <a:rPr kumimoji="0" lang="zh-CN" altLang="en-US" sz="1400" b="0" i="0" u="none" strike="noStrike" cap="none" spc="0" normalizeH="0" baseline="0" dirty="0">
                <a:ln>
                  <a:noFill/>
                </a:ln>
                <a:solidFill>
                  <a:srgbClr val="000000"/>
                </a:solidFill>
                <a:effectLst/>
                <a:uFillTx/>
                <a:latin typeface="+mj-lt"/>
                <a:ea typeface="+mj-ea"/>
                <a:cs typeface="+mj-cs"/>
                <a:sym typeface="Arial"/>
              </a:rPr>
              <a:t> </a:t>
            </a:r>
            <a:r>
              <a:rPr kumimoji="0" lang="en-US" altLang="zh-CN" sz="1400" b="0" i="0" u="none" strike="noStrike" cap="none" spc="0" normalizeH="0" baseline="0" dirty="0">
                <a:ln>
                  <a:noFill/>
                </a:ln>
                <a:solidFill>
                  <a:srgbClr val="000000"/>
                </a:solidFill>
                <a:effectLst/>
                <a:uFillTx/>
                <a:latin typeface="+mj-lt"/>
                <a:ea typeface="+mj-ea"/>
                <a:cs typeface="+mj-cs"/>
                <a:sym typeface="Arial"/>
              </a:rPr>
              <a:t>4</a:t>
            </a:r>
            <a:r>
              <a:rPr lang="en-US" dirty="0"/>
              <a:t> filters </a:t>
            </a:r>
            <a:r>
              <a:rPr lang="en-US" altLang="zh-CN" dirty="0"/>
              <a:t>in</a:t>
            </a:r>
            <a:r>
              <a:rPr lang="en-US" dirty="0"/>
              <a:t> </a:t>
            </a:r>
            <a:r>
              <a:rPr lang="en-US" altLang="zh-CN" dirty="0"/>
              <a:t>one</a:t>
            </a:r>
            <a:r>
              <a:rPr lang="en-US" dirty="0"/>
              <a:t> dimension, </a:t>
            </a:r>
            <a:r>
              <a:rPr lang="en-US" altLang="zh-CN" dirty="0"/>
              <a:t>and</a:t>
            </a:r>
            <a:r>
              <a:rPr lang="zh-CN" altLang="en-US" dirty="0"/>
              <a:t> </a:t>
            </a:r>
            <a:r>
              <a:rPr lang="en-US" dirty="0"/>
              <a:t>there are 3 dimensions for the dog image</a:t>
            </a:r>
            <a:r>
              <a:rPr lang="zh-CN" altLang="en-US" dirty="0"/>
              <a:t> </a:t>
            </a:r>
            <a:r>
              <a:rPr lang="en-US" altLang="zh-CN" dirty="0"/>
              <a:t>in</a:t>
            </a:r>
            <a:r>
              <a:rPr lang="zh-CN" altLang="en-US" dirty="0"/>
              <a:t> </a:t>
            </a:r>
            <a:r>
              <a:rPr lang="en-US" altLang="zh-CN" dirty="0"/>
              <a:t>total</a:t>
            </a:r>
            <a:r>
              <a:rPr lang="en-US" dirty="0"/>
              <a:t>. </a:t>
            </a:r>
            <a:endParaRPr kumimoji="0" lang="en-CN" sz="1400" b="0" i="0" u="none" strike="noStrike" cap="none" spc="0" normalizeH="0" baseline="0" dirty="0">
              <a:ln>
                <a:noFill/>
              </a:ln>
              <a:solidFill>
                <a:srgbClr val="000000"/>
              </a:solidFill>
              <a:effectLst/>
              <a:uFillTx/>
              <a:latin typeface="+mj-lt"/>
              <a:ea typeface="+mj-ea"/>
              <a:cs typeface="+mj-cs"/>
              <a:sym typeface="Aria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Google Shape;189;p38"/>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 3</a:t>
            </a:r>
            <a:r>
              <a:rPr lang="en-US" dirty="0"/>
              <a:t>: Understanding input/output shapes in PyTorch</a:t>
            </a:r>
            <a:endParaRPr dirty="0"/>
          </a:p>
        </p:txBody>
      </p:sp>
      <p:sp>
        <p:nvSpPr>
          <p:cNvPr id="257" name="Google Shape;190;p38"/>
          <p:cNvSpPr txBox="1">
            <a:spLocks noGrp="1"/>
          </p:cNvSpPr>
          <p:nvPr>
            <p:ph type="body" sz="half" idx="1"/>
          </p:nvPr>
        </p:nvSpPr>
        <p:spPr>
          <a:xfrm>
            <a:off x="311699" y="1152475"/>
            <a:ext cx="3999902" cy="3416400"/>
          </a:xfrm>
          <a:prstGeom prst="rect">
            <a:avLst/>
          </a:prstGeom>
        </p:spPr>
        <p:txBody>
          <a:bodyPr/>
          <a:lstStyle>
            <a:lvl1pPr marL="0" indent="0">
              <a:buSzTx/>
              <a:buNone/>
            </a:lvl1pPr>
          </a:lstStyle>
          <a:p>
            <a:r>
              <a:t>[insert visualization 0 here]</a:t>
            </a:r>
          </a:p>
        </p:txBody>
      </p:sp>
      <p:sp>
        <p:nvSpPr>
          <p:cNvPr id="258" name="Google Shape;191;p38"/>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0" indent="0">
              <a:buSzTx/>
              <a:buNone/>
              <a:defRPr sz="1400"/>
            </a:lvl1pPr>
          </a:lstStyle>
          <a:p>
            <a:r>
              <a:t>[insert visualization 1 here]</a:t>
            </a:r>
          </a:p>
        </p:txBody>
      </p:sp>
      <p:pic>
        <p:nvPicPr>
          <p:cNvPr id="2050" name="Picture 2">
            <a:extLst>
              <a:ext uri="{FF2B5EF4-FFF2-40B4-BE49-F238E27FC236}">
                <a16:creationId xmlns:a16="http://schemas.microsoft.com/office/drawing/2014/main" id="{0DE46401-79EA-A147-9151-CB5E265C1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699" y="1545392"/>
            <a:ext cx="3464874" cy="302348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31FF74E-2B0B-C346-A010-167CF559E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7371" y="1434869"/>
            <a:ext cx="3915152" cy="341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Google Shape;196;p39"/>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 3</a:t>
            </a:r>
            <a:r>
              <a:rPr lang="en-US" dirty="0"/>
              <a:t>: Understanding input/output shapes in PyTorch</a:t>
            </a:r>
            <a:endParaRPr dirty="0"/>
          </a:p>
        </p:txBody>
      </p:sp>
      <p:sp>
        <p:nvSpPr>
          <p:cNvPr id="261" name="Google Shape;197;p39"/>
          <p:cNvSpPr txBox="1">
            <a:spLocks noGrp="1"/>
          </p:cNvSpPr>
          <p:nvPr>
            <p:ph type="body" sz="half" idx="1"/>
          </p:nvPr>
        </p:nvSpPr>
        <p:spPr>
          <a:xfrm>
            <a:off x="311699" y="1152475"/>
            <a:ext cx="3999902" cy="3416400"/>
          </a:xfrm>
          <a:prstGeom prst="rect">
            <a:avLst/>
          </a:prstGeom>
        </p:spPr>
        <p:txBody>
          <a:bodyPr/>
          <a:lstStyle>
            <a:lvl1pPr marL="0" indent="0">
              <a:buSzTx/>
              <a:buNone/>
            </a:lvl1pPr>
          </a:lstStyle>
          <a:p>
            <a:r>
              <a:t>[insert visualization 2 here]</a:t>
            </a:r>
          </a:p>
        </p:txBody>
      </p:sp>
      <p:sp>
        <p:nvSpPr>
          <p:cNvPr id="262" name="Google Shape;198;p39"/>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0" indent="0">
              <a:buSzTx/>
              <a:buNone/>
              <a:defRPr sz="1400"/>
            </a:lvl1pPr>
          </a:lstStyle>
          <a:p>
            <a:r>
              <a:t>[insert visualization 3 here]</a:t>
            </a:r>
          </a:p>
        </p:txBody>
      </p:sp>
      <p:pic>
        <p:nvPicPr>
          <p:cNvPr id="3074" name="Picture 2">
            <a:extLst>
              <a:ext uri="{FF2B5EF4-FFF2-40B4-BE49-F238E27FC236}">
                <a16:creationId xmlns:a16="http://schemas.microsoft.com/office/drawing/2014/main" id="{2C352572-6FE6-B64D-BCA3-936CD1502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295" y="1559879"/>
            <a:ext cx="3836709" cy="33479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28A14926-1056-D74E-B564-6BA6CA524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920" y="1442043"/>
            <a:ext cx="4106785" cy="35836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9" y="1152475"/>
            <a:ext cx="3999902" cy="3416400"/>
          </a:xfrm>
          <a:prstGeom prst="rect">
            <a:avLst/>
          </a:prstGeom>
        </p:spPr>
        <p:txBody>
          <a:bodyPr/>
          <a:lstStyle/>
          <a:p>
            <a:pPr marL="0" indent="0">
              <a:buSzTx/>
              <a:buNone/>
            </a:pPr>
            <a:r>
              <a:rPr dirty="0"/>
              <a:t>[</a:t>
            </a:r>
            <a:r>
              <a:rPr lang="en-US" dirty="0"/>
              <a:t>Insert the visualizations of the dog image in the spatial and frequency domain]</a:t>
            </a:r>
            <a:endParaRPr dirty="0"/>
          </a:p>
        </p:txBody>
      </p:sp>
      <p:sp>
        <p:nvSpPr>
          <p:cNvPr id="246" name="Google Shape;170;p35"/>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indent="0">
              <a:buSzTx/>
              <a:buNone/>
              <a:defRPr sz="1400"/>
            </a:pPr>
            <a:r>
              <a:rPr lang="en-US" dirty="0"/>
              <a:t>[Insert the visualizations of the blurred dog image in the spatial and frequency domain]</a:t>
            </a:r>
          </a:p>
          <a:p>
            <a:pPr marL="0" indent="0">
              <a:buSzTx/>
              <a:buNone/>
              <a:defRPr sz="1400"/>
            </a:pPr>
            <a:endParaRPr dirty="0"/>
          </a:p>
        </p:txBody>
      </p:sp>
    </p:spTree>
    <p:extLst>
      <p:ext uri="{BB962C8B-B14F-4D97-AF65-F5344CB8AC3E}">
        <p14:creationId xmlns:p14="http://schemas.microsoft.com/office/powerpoint/2010/main" val="363374756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9" y="1152475"/>
            <a:ext cx="3999902" cy="3416400"/>
          </a:xfrm>
          <a:prstGeom prst="rect">
            <a:avLst/>
          </a:prstGeom>
        </p:spPr>
        <p:txBody>
          <a:bodyPr/>
          <a:lstStyle/>
          <a:p>
            <a:pPr marL="0" indent="0">
              <a:buSzTx/>
              <a:buNone/>
            </a:pPr>
            <a:r>
              <a:rPr lang="en-US" dirty="0"/>
              <a:t>[Insert the visualizations of the 2D Gaussian in the spatial and frequency domain]</a:t>
            </a:r>
          </a:p>
        </p:txBody>
      </p:sp>
      <p:sp>
        <p:nvSpPr>
          <p:cNvPr id="246" name="Google Shape;170;p35"/>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a:pPr>
            <a:r>
              <a:rPr lang="en-US" dirty="0"/>
              <a:t>[Why does our frequency domain representation of a Gaussian not look like a Gaussian itself? How could we adjust the kernel to make these look more similar?]</a:t>
            </a:r>
            <a:endParaRPr dirty="0"/>
          </a:p>
        </p:txBody>
      </p:sp>
    </p:spTree>
    <p:extLst>
      <p:ext uri="{BB962C8B-B14F-4D97-AF65-F5344CB8AC3E}">
        <p14:creationId xmlns:p14="http://schemas.microsoft.com/office/powerpoint/2010/main" val="357154446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8" y="1152475"/>
            <a:ext cx="8039521" cy="3416400"/>
          </a:xfrm>
          <a:prstGeom prst="rect">
            <a:avLst/>
          </a:prstGeom>
        </p:spPr>
        <p:txBody>
          <a:bodyPr/>
          <a:lstStyle/>
          <a:p>
            <a:pPr marL="0" indent="0">
              <a:buSzTx/>
              <a:buNone/>
            </a:pPr>
            <a:r>
              <a:rPr lang="en-US" dirty="0"/>
              <a:t>[Briefly explain the Convolution Theorem and why this is related to deconvolution]</a:t>
            </a:r>
          </a:p>
        </p:txBody>
      </p:sp>
    </p:spTree>
    <p:extLst>
      <p:ext uri="{BB962C8B-B14F-4D97-AF65-F5344CB8AC3E}">
        <p14:creationId xmlns:p14="http://schemas.microsoft.com/office/powerpoint/2010/main" val="123242272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9" y="1152475"/>
            <a:ext cx="3999902" cy="3416400"/>
          </a:xfrm>
          <a:prstGeom prst="rect">
            <a:avLst/>
          </a:prstGeom>
        </p:spPr>
        <p:txBody>
          <a:bodyPr/>
          <a:lstStyle/>
          <a:p>
            <a:pPr marL="0" indent="0">
              <a:buSzTx/>
              <a:buNone/>
            </a:pPr>
            <a:r>
              <a:rPr dirty="0"/>
              <a:t>[</a:t>
            </a:r>
            <a:r>
              <a:rPr lang="en-US" dirty="0"/>
              <a:t>Insert the visualizations of the mystery image in the spatial and frequency domain]</a:t>
            </a:r>
            <a:endParaRPr dirty="0"/>
          </a:p>
        </p:txBody>
      </p:sp>
      <p:sp>
        <p:nvSpPr>
          <p:cNvPr id="246" name="Google Shape;170;p35"/>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indent="0">
              <a:buSzTx/>
              <a:buNone/>
              <a:defRPr sz="1400"/>
            </a:pPr>
            <a:r>
              <a:rPr lang="en-US" dirty="0"/>
              <a:t>[Insert the visualizations of the mystery kernel in the spatial and frequency domain]</a:t>
            </a:r>
          </a:p>
          <a:p>
            <a:pPr marL="0" indent="0">
              <a:buSzTx/>
              <a:buNone/>
              <a:defRPr sz="1400"/>
            </a:pPr>
            <a:endParaRPr dirty="0"/>
          </a:p>
        </p:txBody>
      </p:sp>
    </p:spTree>
    <p:extLst>
      <p:ext uri="{BB962C8B-B14F-4D97-AF65-F5344CB8AC3E}">
        <p14:creationId xmlns:p14="http://schemas.microsoft.com/office/powerpoint/2010/main" val="226575715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9" y="1152475"/>
            <a:ext cx="3999902" cy="3416400"/>
          </a:xfrm>
          <a:prstGeom prst="rect">
            <a:avLst/>
          </a:prstGeom>
        </p:spPr>
        <p:txBody>
          <a:bodyPr/>
          <a:lstStyle/>
          <a:p>
            <a:pPr marL="0" indent="0">
              <a:buSzTx/>
              <a:buNone/>
            </a:pPr>
            <a:r>
              <a:rPr dirty="0"/>
              <a:t>[</a:t>
            </a:r>
            <a:r>
              <a:rPr lang="en-US" dirty="0"/>
              <a:t>Insert the de-blurred mystery image and its visualizations in the spatial and frequency domain]</a:t>
            </a:r>
            <a:endParaRPr dirty="0"/>
          </a:p>
        </p:txBody>
      </p:sp>
      <p:sp>
        <p:nvSpPr>
          <p:cNvPr id="246" name="Google Shape;170;p35"/>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indent="0">
              <a:buSzTx/>
              <a:buNone/>
              <a:defRPr sz="1400"/>
            </a:pPr>
            <a:r>
              <a:rPr lang="en-US" dirty="0"/>
              <a:t>[Insert the de-blurred mystery image and its visualizations in the spatial and frequency domain after adding salt and pepper noise]</a:t>
            </a:r>
            <a:endParaRPr dirty="0"/>
          </a:p>
        </p:txBody>
      </p:sp>
    </p:spTree>
    <p:extLst>
      <p:ext uri="{BB962C8B-B14F-4D97-AF65-F5344CB8AC3E}">
        <p14:creationId xmlns:p14="http://schemas.microsoft.com/office/powerpoint/2010/main" val="136732413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168;p35"/>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rPr dirty="0"/>
              <a:t>Part</a:t>
            </a:r>
            <a:r>
              <a:rPr lang="en-US" dirty="0"/>
              <a:t> 4: Frequency Domain Convolutions</a:t>
            </a:r>
            <a:endParaRPr dirty="0"/>
          </a:p>
        </p:txBody>
      </p:sp>
      <p:sp>
        <p:nvSpPr>
          <p:cNvPr id="245" name="Google Shape;169;p35"/>
          <p:cNvSpPr txBox="1">
            <a:spLocks noGrp="1"/>
          </p:cNvSpPr>
          <p:nvPr>
            <p:ph type="body" sz="half" idx="1"/>
          </p:nvPr>
        </p:nvSpPr>
        <p:spPr>
          <a:xfrm>
            <a:off x="311699" y="1152475"/>
            <a:ext cx="4174718" cy="3416400"/>
          </a:xfrm>
          <a:prstGeom prst="rect">
            <a:avLst/>
          </a:prstGeom>
        </p:spPr>
        <p:txBody>
          <a:bodyPr/>
          <a:lstStyle/>
          <a:p>
            <a:pPr marL="0" indent="0">
              <a:buSzTx/>
              <a:buNone/>
              <a:defRPr sz="1400"/>
            </a:pPr>
            <a:r>
              <a:rPr lang="en-US" dirty="0"/>
              <a:t>[What factors limit the potential uses of deconvolution in the real world? Give two possible factors]</a:t>
            </a:r>
          </a:p>
        </p:txBody>
      </p:sp>
      <p:sp>
        <p:nvSpPr>
          <p:cNvPr id="4" name="Google Shape;169;p35">
            <a:extLst>
              <a:ext uri="{FF2B5EF4-FFF2-40B4-BE49-F238E27FC236}">
                <a16:creationId xmlns:a16="http://schemas.microsoft.com/office/drawing/2014/main" id="{CBC4779F-BBD2-3F49-9926-A96DCE5BC7C8}"/>
              </a:ext>
            </a:extLst>
          </p:cNvPr>
          <p:cNvSpPr txBox="1">
            <a:spLocks/>
          </p:cNvSpPr>
          <p:nvPr/>
        </p:nvSpPr>
        <p:spPr>
          <a:xfrm>
            <a:off x="4657585" y="1152475"/>
            <a:ext cx="4174718"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marL="457200" marR="0" indent="-3175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1pPr>
            <a:lvl2pPr marL="9652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2pPr>
            <a:lvl3pPr marL="14224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3pPr>
            <a:lvl4pPr marL="18796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4pPr>
            <a:lvl5pPr marL="2336800" marR="0" indent="-355600" algn="l" defTabSz="914400" rtl="0" latinLnBrk="0">
              <a:lnSpc>
                <a:spcPct val="115000"/>
              </a:lnSpc>
              <a:spcBef>
                <a:spcPts val="0"/>
              </a:spcBef>
              <a:spcAft>
                <a:spcPts val="0"/>
              </a:spcAft>
              <a:buClr>
                <a:schemeClr val="accent2">
                  <a:lumOff val="21764"/>
                </a:schemeClr>
              </a:buClr>
              <a:buSzPts val="1400"/>
              <a:buFont typeface="Arial"/>
              <a:buChar char="○"/>
              <a:tabLst/>
              <a:defRPr sz="1400" b="0" i="0" u="none" strike="noStrike" cap="none" spc="0" baseline="0">
                <a:solidFill>
                  <a:schemeClr val="accent2">
                    <a:lumOff val="21764"/>
                  </a:schemeClr>
                </a:solidFill>
                <a:uFillTx/>
                <a:latin typeface="+mj-lt"/>
                <a:ea typeface="+mj-ea"/>
                <a:cs typeface="+mj-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j-lt"/>
                <a:ea typeface="+mj-ea"/>
                <a:cs typeface="+mj-cs"/>
                <a:sym typeface="Arial"/>
              </a:defRPr>
            </a:lvl9pPr>
          </a:lstStyle>
          <a:p>
            <a:pPr marL="0" indent="0" hangingPunct="1">
              <a:buSzTx/>
              <a:buFont typeface="Arial"/>
              <a:buNone/>
              <a:defRPr sz="1400"/>
            </a:pPr>
            <a:r>
              <a:rPr lang="en-US" dirty="0"/>
              <a:t>[We performed two convolutions of the dog image with the same Gaussian (one in the spatial domain, one in the </a:t>
            </a:r>
            <a:r>
              <a:rPr lang="en-US"/>
              <a:t>frequency domain). </a:t>
            </a:r>
            <a:r>
              <a:rPr lang="en-US" dirty="0"/>
              <a:t>How do the two compare, and why might they be different?]</a:t>
            </a:r>
          </a:p>
        </p:txBody>
      </p:sp>
    </p:spTree>
    <p:extLst>
      <p:ext uri="{BB962C8B-B14F-4D97-AF65-F5344CB8AC3E}">
        <p14:creationId xmlns:p14="http://schemas.microsoft.com/office/powerpoint/2010/main" val="102820037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Google Shape;203;p40"/>
          <p:cNvSpPr txBox="1">
            <a:spLocks noGrp="1"/>
          </p:cNvSpPr>
          <p:nvPr>
            <p:ph type="title"/>
          </p:nvPr>
        </p:nvSpPr>
        <p:spPr>
          <a:xfrm>
            <a:off x="311699" y="445025"/>
            <a:ext cx="8520602" cy="572701"/>
          </a:xfrm>
          <a:prstGeom prst="rect">
            <a:avLst/>
          </a:prstGeom>
        </p:spPr>
        <p:txBody>
          <a:bodyPr>
            <a:normAutofit fontScale="90000"/>
          </a:bodyPr>
          <a:lstStyle>
            <a:lvl1pPr defTabSz="877823">
              <a:defRPr sz="2688"/>
            </a:lvl1pPr>
          </a:lstStyle>
          <a:p>
            <a:r>
              <a:t>Conclusion</a:t>
            </a:r>
          </a:p>
        </p:txBody>
      </p:sp>
      <p:sp>
        <p:nvSpPr>
          <p:cNvPr id="265" name="Google Shape;204;p40"/>
          <p:cNvSpPr txBox="1">
            <a:spLocks noGrp="1"/>
          </p:cNvSpPr>
          <p:nvPr>
            <p:ph type="body" idx="1"/>
          </p:nvPr>
        </p:nvSpPr>
        <p:spPr>
          <a:xfrm>
            <a:off x="311699" y="1152475"/>
            <a:ext cx="8520602" cy="3416400"/>
          </a:xfrm>
          <a:prstGeom prst="rect">
            <a:avLst/>
          </a:prstGeom>
        </p:spPr>
        <p:txBody>
          <a:bodyPr/>
          <a:lstStyle>
            <a:lvl1pPr marL="0" indent="0">
              <a:spcBef>
                <a:spcPts val="1600"/>
              </a:spcBef>
              <a:buSzTx/>
              <a:buNone/>
            </a:lvl1pPr>
          </a:lstStyle>
          <a:p>
            <a:r>
              <a:rPr dirty="0"/>
              <a:t>[How does varying the cutoff frequency value or swapping images within a pair influences the resulting hybrid image?]</a:t>
            </a:r>
          </a:p>
        </p:txBody>
      </p:sp>
      <p:sp>
        <p:nvSpPr>
          <p:cNvPr id="2" name="TextBox 1">
            <a:extLst>
              <a:ext uri="{FF2B5EF4-FFF2-40B4-BE49-F238E27FC236}">
                <a16:creationId xmlns:a16="http://schemas.microsoft.com/office/drawing/2014/main" id="{481A84D0-8F0B-6C4C-99B3-C16F7FF41BCC}"/>
              </a:ext>
            </a:extLst>
          </p:cNvPr>
          <p:cNvSpPr txBox="1"/>
          <p:nvPr/>
        </p:nvSpPr>
        <p:spPr>
          <a:xfrm>
            <a:off x="490194" y="1998900"/>
            <a:ext cx="7192652" cy="1508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en-US" dirty="0"/>
              <a:t>With higher cutoff frequency</a:t>
            </a:r>
            <a:r>
              <a:rPr lang="en-US" altLang="zh-CN" dirty="0"/>
              <a:t>,</a:t>
            </a:r>
            <a:r>
              <a:rPr lang="en-US" dirty="0"/>
              <a:t> images with higher frequencies </a:t>
            </a:r>
            <a:r>
              <a:rPr lang="en-US" altLang="zh-CN" dirty="0"/>
              <a:t>will</a:t>
            </a:r>
            <a:r>
              <a:rPr lang="en-US" dirty="0"/>
              <a:t> have</a:t>
            </a:r>
            <a:r>
              <a:rPr lang="zh-CN" altLang="en-US" dirty="0"/>
              <a:t> </a:t>
            </a:r>
            <a:r>
              <a:rPr lang="en-US" dirty="0"/>
              <a:t>clear</a:t>
            </a:r>
            <a:r>
              <a:rPr lang="en-US" altLang="zh-CN" dirty="0"/>
              <a:t>er</a:t>
            </a:r>
            <a:r>
              <a:rPr lang="en-US" dirty="0"/>
              <a:t> edges. </a:t>
            </a:r>
            <a:r>
              <a:rPr lang="en-US" altLang="zh-CN" dirty="0"/>
              <a:t>With</a:t>
            </a:r>
            <a:r>
              <a:rPr lang="zh-CN" altLang="en-US" dirty="0"/>
              <a:t> </a:t>
            </a:r>
            <a:r>
              <a:rPr lang="en-US" dirty="0"/>
              <a:t>lower cutoff frequency, images with higher frequencies </a:t>
            </a:r>
            <a:r>
              <a:rPr lang="en-US" altLang="zh-CN" dirty="0"/>
              <a:t>will</a:t>
            </a:r>
            <a:r>
              <a:rPr lang="en-US" dirty="0"/>
              <a:t> have</a:t>
            </a:r>
            <a:r>
              <a:rPr lang="zh-CN" altLang="en-US" dirty="0"/>
              <a:t> </a:t>
            </a:r>
            <a:r>
              <a:rPr lang="en-US" altLang="zh-CN" dirty="0"/>
              <a:t>blur</a:t>
            </a:r>
            <a:r>
              <a:rPr lang="en-US" dirty="0"/>
              <a:t> edges. By swapping images within a pair, image with higher frequency is sharpened even more and images with lower image with lower frequency is blurred more, thus will not have the same effect after hybrid (example with cat + dog hybrid image is showed in the next page). In addition, I found the best cutoff frequency for the cat + dog hybrid image is 5. </a:t>
            </a:r>
          </a:p>
          <a:p>
            <a:pPr marL="0" marR="0" indent="0" algn="l" defTabSz="914400" rtl="0" fontAlgn="auto" latinLnBrk="0" hangingPunct="0">
              <a:lnSpc>
                <a:spcPct val="100000"/>
              </a:lnSpc>
              <a:spcBef>
                <a:spcPts val="0"/>
              </a:spcBef>
              <a:spcAft>
                <a:spcPts val="0"/>
              </a:spcAft>
              <a:buClrTx/>
              <a:buSzTx/>
              <a:buFontTx/>
              <a:buNone/>
              <a:tabLst/>
            </a:pPr>
            <a:endParaRPr kumimoji="0" lang="en-CN" sz="1400" b="0" i="0" u="none" strike="noStrike" cap="none" spc="0" normalizeH="0" baseline="0" dirty="0">
              <a:ln>
                <a:noFill/>
              </a:ln>
              <a:solidFill>
                <a:srgbClr val="000000"/>
              </a:solidFill>
              <a:effectLst/>
              <a:uFillTx/>
              <a:latin typeface="+mj-lt"/>
              <a:ea typeface="+mj-ea"/>
              <a:cs typeface="+mj-cs"/>
              <a:sym typeface="Arial"/>
            </a:endParaRPr>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Arial"/>
        <a:ea typeface="Arial"/>
        <a:cs typeface="Arial"/>
      </a:majorFont>
      <a:minorFont>
        <a:latin typeface="Helvetica"/>
        <a:ea typeface="Helvetica"/>
        <a:cs typeface="Helvetic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210</TotalTime>
  <Words>1392</Words>
  <Application>Microsoft Macintosh PowerPoint</Application>
  <PresentationFormat>On-screen Show (16:9)</PresentationFormat>
  <Paragraphs>140</Paragraphs>
  <Slides>21</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21</vt:i4>
      </vt:variant>
    </vt:vector>
  </HeadingPairs>
  <TitlesOfParts>
    <vt:vector size="23" baseType="lpstr">
      <vt:lpstr>Arial</vt:lpstr>
      <vt:lpstr>Simple Light</vt:lpstr>
      <vt:lpstr>CS 6476 Project 1</vt:lpstr>
      <vt:lpstr>Part 1: Image filtering</vt:lpstr>
      <vt:lpstr>Part 1: Image filtering</vt:lpstr>
      <vt:lpstr>Part 1: Image filtering</vt:lpstr>
      <vt:lpstr>Part 1: Hybrid images</vt:lpstr>
      <vt:lpstr>Part 1: Hybrid images</vt:lpstr>
      <vt:lpstr>Part 1: Hybrid images</vt:lpstr>
      <vt:lpstr>Part 2: Hybrid images with PyTorch</vt:lpstr>
      <vt:lpstr>Part 2: Hybrid images with PyTorch</vt:lpstr>
      <vt:lpstr>Part 2: Hybrid images with PyTorch</vt:lpstr>
      <vt:lpstr>Part 3: Understanding input/output shapes in PyTorch</vt:lpstr>
      <vt:lpstr>Part 3: Understanding input/output shapes in PyTorch</vt:lpstr>
      <vt:lpstr>Part 3: Understanding input/output shapes in PyTorch</vt:lpstr>
      <vt:lpstr>Part 3: Understanding input/output shapes in PyTorch</vt:lpstr>
      <vt:lpstr>Part 4: Frequency Domain Convolutions</vt:lpstr>
      <vt:lpstr>Part 4: Frequency Domain Convolutions</vt:lpstr>
      <vt:lpstr>Part 4: Frequency Domain Convolutions</vt:lpstr>
      <vt:lpstr>Part 4: Frequency Domain Convolutions</vt:lpstr>
      <vt:lpstr>Part 4: Frequency Domain Convolutions</vt:lpstr>
      <vt:lpstr>Part 4: Frequency Domain Convolutions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6476 Project 1</dc:title>
  <cp:lastModifiedBy>Jia, Ruoran</cp:lastModifiedBy>
  <cp:revision>13</cp:revision>
  <dcterms:modified xsi:type="dcterms:W3CDTF">2022-09-08T03:18:09Z</dcterms:modified>
</cp:coreProperties>
</file>